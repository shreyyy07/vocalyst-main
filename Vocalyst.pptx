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Canva Sans" panose="020B0604020202020204" charset="0"/>
      <p:regular r:id="rId14"/>
    </p:embeddedFont>
    <p:embeddedFont>
      <p:font typeface="Canva Sans Bold" panose="020B0604020202020204" charset="0"/>
      <p:regular r:id="rId15"/>
    </p:embeddedFont>
    <p:embeddedFont>
      <p:font typeface="DM Sans" pitchFamily="2" charset="0"/>
      <p:regular r:id="rId16"/>
    </p:embeddedFont>
    <p:embeddedFont>
      <p:font typeface="Poppins" panose="00000500000000000000" pitchFamily="2" charset="0"/>
      <p:regular r:id="rId17"/>
    </p:embeddedFont>
    <p:embeddedFont>
      <p:font typeface="Poppins Bold" panose="00000800000000000000" charset="0"/>
      <p:regular r:id="rId18"/>
    </p:embeddedFont>
    <p:embeddedFont>
      <p:font typeface="Poppins Medium" panose="00000600000000000000" pitchFamily="2" charset="0"/>
      <p:regular r:id="rId19"/>
    </p:embeddedFont>
    <p:embeddedFont>
      <p:font typeface="Poppins Semi-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svg"/><Relationship Id="rId7" Type="http://schemas.openxmlformats.org/officeDocument/2006/relationships/image" Target="../media/image10.sv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8.sv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21.svg"/><Relationship Id="rId7" Type="http://schemas.openxmlformats.org/officeDocument/2006/relationships/image" Target="../media/image15.png"/><Relationship Id="rId12" Type="http://schemas.openxmlformats.org/officeDocument/2006/relationships/image" Target="../media/image10.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jpeg"/><Relationship Id="rId11" Type="http://schemas.openxmlformats.org/officeDocument/2006/relationships/image" Target="../media/image9.png"/><Relationship Id="rId5" Type="http://schemas.openxmlformats.org/officeDocument/2006/relationships/image" Target="../media/image23.svg"/><Relationship Id="rId10" Type="http://schemas.openxmlformats.org/officeDocument/2006/relationships/image" Target="../media/image18.svg"/><Relationship Id="rId4" Type="http://schemas.openxmlformats.org/officeDocument/2006/relationships/image" Target="../media/image2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6.svg"/><Relationship Id="rId7" Type="http://schemas.openxmlformats.org/officeDocument/2006/relationships/image" Target="../media/image10.sv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8.sv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0.svg"/><Relationship Id="rId7" Type="http://schemas.openxmlformats.org/officeDocument/2006/relationships/image" Target="../media/image29.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32.sv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33.jpg"/></Relationships>
</file>

<file path=ppt/slides/_rels/slide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34.jpg"/></Relationships>
</file>

<file path=ppt/slides/_rels/slide11.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10.sv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8.sv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40FF">
                <a:alpha val="100000"/>
              </a:srgbClr>
            </a:gs>
            <a:gs pos="100000">
              <a:srgbClr val="5200BF">
                <a:alpha val="100000"/>
              </a:srgbClr>
            </a:gs>
          </a:gsLst>
          <a:lin ang="5400000"/>
        </a:gradFill>
        <a:effectLst/>
      </p:bgPr>
    </p:bg>
    <p:spTree>
      <p:nvGrpSpPr>
        <p:cNvPr id="1" name=""/>
        <p:cNvGrpSpPr/>
        <p:nvPr/>
      </p:nvGrpSpPr>
      <p:grpSpPr>
        <a:xfrm>
          <a:off x="0" y="0"/>
          <a:ext cx="0" cy="0"/>
          <a:chOff x="0" y="0"/>
          <a:chExt cx="0" cy="0"/>
        </a:xfrm>
      </p:grpSpPr>
      <p:sp>
        <p:nvSpPr>
          <p:cNvPr id="2" name="AutoShape 2"/>
          <p:cNvSpPr/>
          <p:nvPr/>
        </p:nvSpPr>
        <p:spPr>
          <a:xfrm>
            <a:off x="6262858" y="1102042"/>
            <a:ext cx="9031836" cy="0"/>
          </a:xfrm>
          <a:prstGeom prst="line">
            <a:avLst/>
          </a:prstGeom>
          <a:ln w="28575" cap="flat">
            <a:solidFill>
              <a:srgbClr val="FFFFFF"/>
            </a:solidFill>
            <a:prstDash val="solid"/>
            <a:headEnd type="none" w="sm" len="sm"/>
            <a:tailEnd type="none" w="sm" len="sm"/>
          </a:ln>
        </p:spPr>
      </p:sp>
      <p:grpSp>
        <p:nvGrpSpPr>
          <p:cNvPr id="3" name="Group 3"/>
          <p:cNvGrpSpPr/>
          <p:nvPr/>
        </p:nvGrpSpPr>
        <p:grpSpPr>
          <a:xfrm>
            <a:off x="1807033" y="5697800"/>
            <a:ext cx="10092458" cy="806379"/>
            <a:chOff x="0" y="0"/>
            <a:chExt cx="2660085" cy="187555"/>
          </a:xfrm>
        </p:grpSpPr>
        <p:sp>
          <p:nvSpPr>
            <p:cNvPr id="4" name="Freeform 4"/>
            <p:cNvSpPr/>
            <p:nvPr/>
          </p:nvSpPr>
          <p:spPr>
            <a:xfrm>
              <a:off x="0" y="0"/>
              <a:ext cx="2660085" cy="187555"/>
            </a:xfrm>
            <a:custGeom>
              <a:avLst/>
              <a:gdLst/>
              <a:ahLst/>
              <a:cxnLst/>
              <a:rect l="l" t="t" r="r" b="b"/>
              <a:pathLst>
                <a:path w="2660085" h="187555">
                  <a:moveTo>
                    <a:pt x="55956" y="0"/>
                  </a:moveTo>
                  <a:lnTo>
                    <a:pt x="2604128" y="0"/>
                  </a:lnTo>
                  <a:cubicBezTo>
                    <a:pt x="2618969" y="0"/>
                    <a:pt x="2633202" y="5895"/>
                    <a:pt x="2643696" y="16389"/>
                  </a:cubicBezTo>
                  <a:cubicBezTo>
                    <a:pt x="2654190" y="26883"/>
                    <a:pt x="2660085" y="41116"/>
                    <a:pt x="2660085" y="55956"/>
                  </a:cubicBezTo>
                  <a:lnTo>
                    <a:pt x="2660085" y="131599"/>
                  </a:lnTo>
                  <a:cubicBezTo>
                    <a:pt x="2660085" y="146439"/>
                    <a:pt x="2654190" y="160672"/>
                    <a:pt x="2643696" y="171166"/>
                  </a:cubicBezTo>
                  <a:cubicBezTo>
                    <a:pt x="2633202" y="181660"/>
                    <a:pt x="2618969" y="187555"/>
                    <a:pt x="2604128" y="187555"/>
                  </a:cubicBezTo>
                  <a:lnTo>
                    <a:pt x="55956" y="187555"/>
                  </a:lnTo>
                  <a:cubicBezTo>
                    <a:pt x="41116" y="187555"/>
                    <a:pt x="26883" y="181660"/>
                    <a:pt x="16389" y="171166"/>
                  </a:cubicBezTo>
                  <a:cubicBezTo>
                    <a:pt x="5895" y="160672"/>
                    <a:pt x="0" y="146439"/>
                    <a:pt x="0" y="131599"/>
                  </a:cubicBezTo>
                  <a:lnTo>
                    <a:pt x="0" y="55956"/>
                  </a:lnTo>
                  <a:cubicBezTo>
                    <a:pt x="0" y="41116"/>
                    <a:pt x="5895" y="26883"/>
                    <a:pt x="16389" y="16389"/>
                  </a:cubicBezTo>
                  <a:cubicBezTo>
                    <a:pt x="26883" y="5895"/>
                    <a:pt x="41116" y="0"/>
                    <a:pt x="55956" y="0"/>
                  </a:cubicBezTo>
                  <a:close/>
                </a:path>
              </a:pathLst>
            </a:custGeom>
            <a:solidFill>
              <a:srgbClr val="000000">
                <a:alpha val="0"/>
              </a:srgbClr>
            </a:solidFill>
            <a:ln w="28575" cap="rnd">
              <a:solidFill>
                <a:srgbClr val="FFFFFF"/>
              </a:solidFill>
              <a:prstDash val="solid"/>
              <a:round/>
            </a:ln>
          </p:spPr>
        </p:sp>
        <p:sp>
          <p:nvSpPr>
            <p:cNvPr id="5" name="TextBox 5"/>
            <p:cNvSpPr txBox="1"/>
            <p:nvPr/>
          </p:nvSpPr>
          <p:spPr>
            <a:xfrm>
              <a:off x="0" y="-38100"/>
              <a:ext cx="2660085" cy="225655"/>
            </a:xfrm>
            <a:prstGeom prst="rect">
              <a:avLst/>
            </a:prstGeom>
          </p:spPr>
          <p:txBody>
            <a:bodyPr lIns="50800" tIns="50800" rIns="50800" bIns="50800" rtlCol="0" anchor="ctr"/>
            <a:lstStyle/>
            <a:p>
              <a:pPr algn="ctr">
                <a:lnSpc>
                  <a:spcPts val="2799"/>
                </a:lnSpc>
              </a:pPr>
              <a:endParaRPr/>
            </a:p>
          </p:txBody>
        </p:sp>
      </p:grpSp>
      <p:sp>
        <p:nvSpPr>
          <p:cNvPr id="6" name="Freeform 6"/>
          <p:cNvSpPr/>
          <p:nvPr/>
        </p:nvSpPr>
        <p:spPr>
          <a:xfrm>
            <a:off x="15614161" y="7616646"/>
            <a:ext cx="2197589" cy="2197589"/>
          </a:xfrm>
          <a:custGeom>
            <a:avLst/>
            <a:gdLst/>
            <a:ahLst/>
            <a:cxnLst/>
            <a:rect l="l" t="t" r="r" b="b"/>
            <a:pathLst>
              <a:path w="2197589" h="2197589">
                <a:moveTo>
                  <a:pt x="0" y="0"/>
                </a:moveTo>
                <a:lnTo>
                  <a:pt x="2197589" y="0"/>
                </a:lnTo>
                <a:lnTo>
                  <a:pt x="2197589" y="2197588"/>
                </a:lnTo>
                <a:lnTo>
                  <a:pt x="0" y="21975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673683" y="885209"/>
            <a:ext cx="419030" cy="433666"/>
          </a:xfrm>
          <a:custGeom>
            <a:avLst/>
            <a:gdLst/>
            <a:ahLst/>
            <a:cxnLst/>
            <a:rect l="l" t="t" r="r" b="b"/>
            <a:pathLst>
              <a:path w="419030" h="433666">
                <a:moveTo>
                  <a:pt x="0" y="0"/>
                </a:moveTo>
                <a:lnTo>
                  <a:pt x="419030" y="0"/>
                </a:lnTo>
                <a:lnTo>
                  <a:pt x="419030" y="433667"/>
                </a:lnTo>
                <a:lnTo>
                  <a:pt x="0" y="4336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3169020" y="8604961"/>
            <a:ext cx="555242" cy="600262"/>
          </a:xfrm>
          <a:custGeom>
            <a:avLst/>
            <a:gdLst/>
            <a:ahLst/>
            <a:cxnLst/>
            <a:rect l="l" t="t" r="r" b="b"/>
            <a:pathLst>
              <a:path w="555242" h="600262">
                <a:moveTo>
                  <a:pt x="0" y="0"/>
                </a:moveTo>
                <a:lnTo>
                  <a:pt x="555242" y="0"/>
                </a:lnTo>
                <a:lnTo>
                  <a:pt x="555242" y="600262"/>
                </a:lnTo>
                <a:lnTo>
                  <a:pt x="0" y="6002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1492708" y="-893962"/>
            <a:ext cx="2985416" cy="3064585"/>
          </a:xfrm>
          <a:custGeom>
            <a:avLst/>
            <a:gdLst/>
            <a:ahLst/>
            <a:cxnLst/>
            <a:rect l="l" t="t" r="r" b="b"/>
            <a:pathLst>
              <a:path w="2985416" h="3064585">
                <a:moveTo>
                  <a:pt x="0" y="0"/>
                </a:moveTo>
                <a:lnTo>
                  <a:pt x="2985416" y="0"/>
                </a:lnTo>
                <a:lnTo>
                  <a:pt x="2985416" y="3064585"/>
                </a:lnTo>
                <a:lnTo>
                  <a:pt x="0" y="306458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TextBox 10"/>
          <p:cNvSpPr txBox="1"/>
          <p:nvPr/>
        </p:nvSpPr>
        <p:spPr>
          <a:xfrm>
            <a:off x="1716394" y="2716122"/>
            <a:ext cx="11465314" cy="2823210"/>
          </a:xfrm>
          <a:prstGeom prst="rect">
            <a:avLst/>
          </a:prstGeom>
        </p:spPr>
        <p:txBody>
          <a:bodyPr lIns="0" tIns="0" rIns="0" bIns="0" rtlCol="0" anchor="t">
            <a:spAutoFit/>
          </a:bodyPr>
          <a:lstStyle/>
          <a:p>
            <a:pPr algn="l">
              <a:lnSpc>
                <a:spcPts val="21839"/>
              </a:lnSpc>
              <a:spcBef>
                <a:spcPct val="0"/>
              </a:spcBef>
            </a:pPr>
            <a:r>
              <a:rPr lang="en-US" sz="15600" b="1">
                <a:solidFill>
                  <a:srgbClr val="FFFFFF"/>
                </a:solidFill>
                <a:latin typeface="Poppins Semi-Bold"/>
                <a:ea typeface="Poppins Semi-Bold"/>
                <a:cs typeface="Poppins Semi-Bold"/>
                <a:sym typeface="Poppins Semi-Bold"/>
              </a:rPr>
              <a:t>Vocalyst</a:t>
            </a:r>
          </a:p>
        </p:txBody>
      </p:sp>
      <p:sp>
        <p:nvSpPr>
          <p:cNvPr id="11" name="TextBox 11"/>
          <p:cNvSpPr txBox="1"/>
          <p:nvPr/>
        </p:nvSpPr>
        <p:spPr>
          <a:xfrm>
            <a:off x="2276488" y="876299"/>
            <a:ext cx="3986370" cy="425758"/>
          </a:xfrm>
          <a:prstGeom prst="rect">
            <a:avLst/>
          </a:prstGeom>
        </p:spPr>
        <p:txBody>
          <a:bodyPr wrap="square" lIns="0" tIns="0" rIns="0" bIns="0" rtlCol="0" anchor="t">
            <a:spAutoFit/>
          </a:bodyPr>
          <a:lstStyle/>
          <a:p>
            <a:pPr algn="l">
              <a:lnSpc>
                <a:spcPts val="3079"/>
              </a:lnSpc>
              <a:spcBef>
                <a:spcPct val="0"/>
              </a:spcBef>
            </a:pPr>
            <a:r>
              <a:rPr lang="en-IN" sz="3600" b="0" i="0" dirty="0" err="1">
                <a:solidFill>
                  <a:schemeClr val="bg1"/>
                </a:solidFill>
                <a:effectLst/>
                <a:latin typeface="Google Sans"/>
              </a:rPr>
              <a:t>IntelliHack</a:t>
            </a:r>
            <a:r>
              <a:rPr lang="en-IN" sz="3600" b="0" i="0" dirty="0">
                <a:solidFill>
                  <a:schemeClr val="bg1"/>
                </a:solidFill>
                <a:effectLst/>
                <a:latin typeface="Google Sans"/>
              </a:rPr>
              <a:t> SRM</a:t>
            </a:r>
            <a:endParaRPr lang="en-US" sz="3600" dirty="0">
              <a:solidFill>
                <a:schemeClr val="bg1"/>
              </a:solidFill>
              <a:latin typeface="Poppins"/>
              <a:ea typeface="Poppins"/>
              <a:cs typeface="Poppins"/>
              <a:sym typeface="Poppins"/>
            </a:endParaRPr>
          </a:p>
        </p:txBody>
      </p:sp>
      <p:sp>
        <p:nvSpPr>
          <p:cNvPr id="12" name="TextBox 12"/>
          <p:cNvSpPr txBox="1"/>
          <p:nvPr/>
        </p:nvSpPr>
        <p:spPr>
          <a:xfrm>
            <a:off x="2092713" y="5802845"/>
            <a:ext cx="10404087" cy="511615"/>
          </a:xfrm>
          <a:prstGeom prst="rect">
            <a:avLst/>
          </a:prstGeom>
        </p:spPr>
        <p:txBody>
          <a:bodyPr wrap="square" lIns="0" tIns="0" rIns="0" bIns="0" rtlCol="0" anchor="t">
            <a:spAutoFit/>
          </a:bodyPr>
          <a:lstStyle/>
          <a:p>
            <a:pPr algn="l">
              <a:lnSpc>
                <a:spcPts val="4199"/>
              </a:lnSpc>
              <a:spcBef>
                <a:spcPct val="0"/>
              </a:spcBef>
            </a:pPr>
            <a:r>
              <a:rPr lang="en-US" sz="2999" dirty="0">
                <a:solidFill>
                  <a:srgbClr val="FFFFFF"/>
                </a:solidFill>
                <a:latin typeface="Poppins"/>
                <a:ea typeface="Poppins"/>
                <a:cs typeface="Poppins"/>
                <a:sym typeface="Poppins"/>
              </a:rPr>
              <a:t>Empowering your voice, enhancing your impact</a:t>
            </a:r>
          </a:p>
        </p:txBody>
      </p:sp>
      <p:sp>
        <p:nvSpPr>
          <p:cNvPr id="13" name="TextBox 13"/>
          <p:cNvSpPr txBox="1"/>
          <p:nvPr/>
        </p:nvSpPr>
        <p:spPr>
          <a:xfrm>
            <a:off x="1807033" y="8275405"/>
            <a:ext cx="2620767" cy="375285"/>
          </a:xfrm>
          <a:prstGeom prst="rect">
            <a:avLst/>
          </a:prstGeom>
        </p:spPr>
        <p:txBody>
          <a:bodyPr lIns="0" tIns="0" rIns="0" bIns="0" rtlCol="0" anchor="t">
            <a:spAutoFit/>
          </a:bodyPr>
          <a:lstStyle/>
          <a:p>
            <a:pPr algn="l">
              <a:lnSpc>
                <a:spcPts val="2940"/>
              </a:lnSpc>
            </a:pPr>
            <a:r>
              <a:rPr lang="en-US" sz="2100" b="1">
                <a:solidFill>
                  <a:srgbClr val="FFFFFF"/>
                </a:solidFill>
                <a:latin typeface="Poppins Semi-Bold"/>
                <a:ea typeface="Poppins Semi-Bold"/>
                <a:cs typeface="Poppins Semi-Bold"/>
                <a:sym typeface="Poppins Semi-Bold"/>
              </a:rPr>
              <a:t>Presented by</a:t>
            </a:r>
          </a:p>
        </p:txBody>
      </p:sp>
      <p:sp>
        <p:nvSpPr>
          <p:cNvPr id="14" name="TextBox 14"/>
          <p:cNvSpPr txBox="1"/>
          <p:nvPr/>
        </p:nvSpPr>
        <p:spPr>
          <a:xfrm>
            <a:off x="1807033" y="8688875"/>
            <a:ext cx="5910689" cy="375285"/>
          </a:xfrm>
          <a:prstGeom prst="rect">
            <a:avLst/>
          </a:prstGeom>
        </p:spPr>
        <p:txBody>
          <a:bodyPr lIns="0" tIns="0" rIns="0" bIns="0" rtlCol="0" anchor="t">
            <a:spAutoFit/>
          </a:bodyPr>
          <a:lstStyle/>
          <a:p>
            <a:pPr algn="l">
              <a:lnSpc>
                <a:spcPts val="2940"/>
              </a:lnSpc>
            </a:pPr>
            <a:r>
              <a:rPr lang="en-US" sz="2100">
                <a:solidFill>
                  <a:srgbClr val="FFFFFF"/>
                </a:solidFill>
                <a:latin typeface="Poppins"/>
                <a:ea typeface="Poppins"/>
                <a:cs typeface="Poppins"/>
                <a:sym typeface="Poppins"/>
              </a:rPr>
              <a:t>Team Technically Retarded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74135" y="3729988"/>
            <a:ext cx="7151687" cy="737090"/>
            <a:chOff x="0" y="0"/>
            <a:chExt cx="1864751" cy="192191"/>
          </a:xfrm>
        </p:grpSpPr>
        <p:sp>
          <p:nvSpPr>
            <p:cNvPr id="3" name="Freeform 3"/>
            <p:cNvSpPr/>
            <p:nvPr/>
          </p:nvSpPr>
          <p:spPr>
            <a:xfrm>
              <a:off x="0" y="0"/>
              <a:ext cx="1864751" cy="192191"/>
            </a:xfrm>
            <a:custGeom>
              <a:avLst/>
              <a:gdLst/>
              <a:ahLst/>
              <a:cxnLst/>
              <a:rect l="l" t="t" r="r" b="b"/>
              <a:pathLst>
                <a:path w="1864751" h="192191">
                  <a:moveTo>
                    <a:pt x="23816" y="0"/>
                  </a:moveTo>
                  <a:lnTo>
                    <a:pt x="1840936" y="0"/>
                  </a:lnTo>
                  <a:cubicBezTo>
                    <a:pt x="1847252" y="0"/>
                    <a:pt x="1853310" y="2509"/>
                    <a:pt x="1857776" y="6975"/>
                  </a:cubicBezTo>
                  <a:cubicBezTo>
                    <a:pt x="1862242" y="11442"/>
                    <a:pt x="1864751" y="17499"/>
                    <a:pt x="1864751" y="23816"/>
                  </a:cubicBezTo>
                  <a:lnTo>
                    <a:pt x="1864751" y="168375"/>
                  </a:lnTo>
                  <a:cubicBezTo>
                    <a:pt x="1864751" y="174692"/>
                    <a:pt x="1862242" y="180749"/>
                    <a:pt x="1857776" y="185216"/>
                  </a:cubicBezTo>
                  <a:cubicBezTo>
                    <a:pt x="1853310" y="189682"/>
                    <a:pt x="1847252" y="192191"/>
                    <a:pt x="1840936" y="192191"/>
                  </a:cubicBezTo>
                  <a:lnTo>
                    <a:pt x="23816" y="192191"/>
                  </a:lnTo>
                  <a:cubicBezTo>
                    <a:pt x="10663" y="192191"/>
                    <a:pt x="0" y="181528"/>
                    <a:pt x="0" y="168375"/>
                  </a:cubicBezTo>
                  <a:lnTo>
                    <a:pt x="0" y="23816"/>
                  </a:lnTo>
                  <a:cubicBezTo>
                    <a:pt x="0" y="17499"/>
                    <a:pt x="2509" y="11442"/>
                    <a:pt x="6975" y="6975"/>
                  </a:cubicBezTo>
                  <a:cubicBezTo>
                    <a:pt x="11442" y="2509"/>
                    <a:pt x="17499" y="0"/>
                    <a:pt x="23816" y="0"/>
                  </a:cubicBezTo>
                  <a:close/>
                </a:path>
              </a:pathLst>
            </a:custGeom>
            <a:solidFill>
              <a:srgbClr val="F5F5F5"/>
            </a:solidFill>
          </p:spPr>
        </p:sp>
        <p:sp>
          <p:nvSpPr>
            <p:cNvPr id="4" name="TextBox 4"/>
            <p:cNvSpPr txBox="1"/>
            <p:nvPr/>
          </p:nvSpPr>
          <p:spPr>
            <a:xfrm>
              <a:off x="0" y="-66675"/>
              <a:ext cx="1864751" cy="258866"/>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5473059" y="3729988"/>
            <a:ext cx="737090" cy="737090"/>
            <a:chOff x="0" y="0"/>
            <a:chExt cx="192191" cy="192191"/>
          </a:xfrm>
        </p:grpSpPr>
        <p:sp>
          <p:nvSpPr>
            <p:cNvPr id="6" name="Freeform 6"/>
            <p:cNvSpPr/>
            <p:nvPr/>
          </p:nvSpPr>
          <p:spPr>
            <a:xfrm>
              <a:off x="0" y="0"/>
              <a:ext cx="192191" cy="192191"/>
            </a:xfrm>
            <a:custGeom>
              <a:avLst/>
              <a:gdLst/>
              <a:ahLst/>
              <a:cxnLst/>
              <a:rect l="l" t="t" r="r" b="b"/>
              <a:pathLst>
                <a:path w="192191" h="192191">
                  <a:moveTo>
                    <a:pt x="96096" y="0"/>
                  </a:moveTo>
                  <a:lnTo>
                    <a:pt x="96096" y="0"/>
                  </a:lnTo>
                  <a:cubicBezTo>
                    <a:pt x="121582" y="0"/>
                    <a:pt x="146024" y="10124"/>
                    <a:pt x="164045" y="28146"/>
                  </a:cubicBezTo>
                  <a:cubicBezTo>
                    <a:pt x="182067" y="46167"/>
                    <a:pt x="192191" y="70609"/>
                    <a:pt x="192191" y="96096"/>
                  </a:cubicBezTo>
                  <a:lnTo>
                    <a:pt x="192191" y="96096"/>
                  </a:lnTo>
                  <a:cubicBezTo>
                    <a:pt x="192191" y="121582"/>
                    <a:pt x="182067" y="146024"/>
                    <a:pt x="164045" y="164045"/>
                  </a:cubicBezTo>
                  <a:cubicBezTo>
                    <a:pt x="146024" y="182067"/>
                    <a:pt x="121582" y="192191"/>
                    <a:pt x="96096" y="192191"/>
                  </a:cubicBezTo>
                  <a:lnTo>
                    <a:pt x="96096" y="192191"/>
                  </a:lnTo>
                  <a:cubicBezTo>
                    <a:pt x="70609" y="192191"/>
                    <a:pt x="46167" y="182067"/>
                    <a:pt x="28146" y="164045"/>
                  </a:cubicBezTo>
                  <a:cubicBezTo>
                    <a:pt x="10124" y="146024"/>
                    <a:pt x="0" y="121582"/>
                    <a:pt x="0" y="96096"/>
                  </a:cubicBezTo>
                  <a:lnTo>
                    <a:pt x="0" y="96096"/>
                  </a:lnTo>
                  <a:cubicBezTo>
                    <a:pt x="0" y="70609"/>
                    <a:pt x="10124" y="46167"/>
                    <a:pt x="28146" y="28146"/>
                  </a:cubicBezTo>
                  <a:cubicBezTo>
                    <a:pt x="46167" y="10124"/>
                    <a:pt x="70609" y="0"/>
                    <a:pt x="96096" y="0"/>
                  </a:cubicBezTo>
                  <a:close/>
                </a:path>
              </a:pathLst>
            </a:custGeom>
            <a:solidFill>
              <a:srgbClr val="7B29E8"/>
            </a:solidFill>
          </p:spPr>
        </p:sp>
        <p:sp>
          <p:nvSpPr>
            <p:cNvPr id="7" name="TextBox 7"/>
            <p:cNvSpPr txBox="1"/>
            <p:nvPr/>
          </p:nvSpPr>
          <p:spPr>
            <a:xfrm>
              <a:off x="0" y="-66675"/>
              <a:ext cx="192191" cy="258866"/>
            </a:xfrm>
            <a:prstGeom prst="rect">
              <a:avLst/>
            </a:prstGeom>
          </p:spPr>
          <p:txBody>
            <a:bodyPr lIns="50800" tIns="50800" rIns="50800" bIns="50800" rtlCol="0" anchor="ctr"/>
            <a:lstStyle/>
            <a:p>
              <a:pPr algn="ctr">
                <a:lnSpc>
                  <a:spcPts val="3079"/>
                </a:lnSpc>
              </a:pPr>
              <a:endParaRPr/>
            </a:p>
          </p:txBody>
        </p:sp>
      </p:grpSp>
      <p:grpSp>
        <p:nvGrpSpPr>
          <p:cNvPr id="8" name="Group 8"/>
          <p:cNvGrpSpPr/>
          <p:nvPr/>
        </p:nvGrpSpPr>
        <p:grpSpPr>
          <a:xfrm>
            <a:off x="5574135" y="4774955"/>
            <a:ext cx="7151687" cy="737090"/>
            <a:chOff x="0" y="0"/>
            <a:chExt cx="1864751" cy="192191"/>
          </a:xfrm>
        </p:grpSpPr>
        <p:sp>
          <p:nvSpPr>
            <p:cNvPr id="9" name="Freeform 9"/>
            <p:cNvSpPr/>
            <p:nvPr/>
          </p:nvSpPr>
          <p:spPr>
            <a:xfrm>
              <a:off x="0" y="0"/>
              <a:ext cx="1864751" cy="192191"/>
            </a:xfrm>
            <a:custGeom>
              <a:avLst/>
              <a:gdLst/>
              <a:ahLst/>
              <a:cxnLst/>
              <a:rect l="l" t="t" r="r" b="b"/>
              <a:pathLst>
                <a:path w="1864751" h="192191">
                  <a:moveTo>
                    <a:pt x="23816" y="0"/>
                  </a:moveTo>
                  <a:lnTo>
                    <a:pt x="1840936" y="0"/>
                  </a:lnTo>
                  <a:cubicBezTo>
                    <a:pt x="1847252" y="0"/>
                    <a:pt x="1853310" y="2509"/>
                    <a:pt x="1857776" y="6975"/>
                  </a:cubicBezTo>
                  <a:cubicBezTo>
                    <a:pt x="1862242" y="11442"/>
                    <a:pt x="1864751" y="17499"/>
                    <a:pt x="1864751" y="23816"/>
                  </a:cubicBezTo>
                  <a:lnTo>
                    <a:pt x="1864751" y="168375"/>
                  </a:lnTo>
                  <a:cubicBezTo>
                    <a:pt x="1864751" y="174692"/>
                    <a:pt x="1862242" y="180749"/>
                    <a:pt x="1857776" y="185216"/>
                  </a:cubicBezTo>
                  <a:cubicBezTo>
                    <a:pt x="1853310" y="189682"/>
                    <a:pt x="1847252" y="192191"/>
                    <a:pt x="1840936" y="192191"/>
                  </a:cubicBezTo>
                  <a:lnTo>
                    <a:pt x="23816" y="192191"/>
                  </a:lnTo>
                  <a:cubicBezTo>
                    <a:pt x="10663" y="192191"/>
                    <a:pt x="0" y="181528"/>
                    <a:pt x="0" y="168375"/>
                  </a:cubicBezTo>
                  <a:lnTo>
                    <a:pt x="0" y="23816"/>
                  </a:lnTo>
                  <a:cubicBezTo>
                    <a:pt x="0" y="17499"/>
                    <a:pt x="2509" y="11442"/>
                    <a:pt x="6975" y="6975"/>
                  </a:cubicBezTo>
                  <a:cubicBezTo>
                    <a:pt x="11442" y="2509"/>
                    <a:pt x="17499" y="0"/>
                    <a:pt x="23816" y="0"/>
                  </a:cubicBezTo>
                  <a:close/>
                </a:path>
              </a:pathLst>
            </a:custGeom>
            <a:solidFill>
              <a:srgbClr val="F5F5F5"/>
            </a:solidFill>
          </p:spPr>
        </p:sp>
        <p:sp>
          <p:nvSpPr>
            <p:cNvPr id="10" name="TextBox 10"/>
            <p:cNvSpPr txBox="1"/>
            <p:nvPr/>
          </p:nvSpPr>
          <p:spPr>
            <a:xfrm>
              <a:off x="0" y="-66675"/>
              <a:ext cx="1864751" cy="258866"/>
            </a:xfrm>
            <a:prstGeom prst="rect">
              <a:avLst/>
            </a:prstGeom>
          </p:spPr>
          <p:txBody>
            <a:bodyPr lIns="50800" tIns="50800" rIns="50800" bIns="50800" rtlCol="0" anchor="ctr"/>
            <a:lstStyle/>
            <a:p>
              <a:pPr algn="ctr">
                <a:lnSpc>
                  <a:spcPts val="3079"/>
                </a:lnSpc>
              </a:pPr>
              <a:endParaRPr/>
            </a:p>
          </p:txBody>
        </p:sp>
      </p:grpSp>
      <p:grpSp>
        <p:nvGrpSpPr>
          <p:cNvPr id="11" name="Group 11"/>
          <p:cNvGrpSpPr/>
          <p:nvPr/>
        </p:nvGrpSpPr>
        <p:grpSpPr>
          <a:xfrm>
            <a:off x="5473059" y="4774955"/>
            <a:ext cx="737090" cy="737090"/>
            <a:chOff x="0" y="0"/>
            <a:chExt cx="192191" cy="192191"/>
          </a:xfrm>
        </p:grpSpPr>
        <p:sp>
          <p:nvSpPr>
            <p:cNvPr id="12" name="Freeform 12"/>
            <p:cNvSpPr/>
            <p:nvPr/>
          </p:nvSpPr>
          <p:spPr>
            <a:xfrm>
              <a:off x="0" y="0"/>
              <a:ext cx="192191" cy="192191"/>
            </a:xfrm>
            <a:custGeom>
              <a:avLst/>
              <a:gdLst/>
              <a:ahLst/>
              <a:cxnLst/>
              <a:rect l="l" t="t" r="r" b="b"/>
              <a:pathLst>
                <a:path w="192191" h="192191">
                  <a:moveTo>
                    <a:pt x="96096" y="0"/>
                  </a:moveTo>
                  <a:lnTo>
                    <a:pt x="96096" y="0"/>
                  </a:lnTo>
                  <a:cubicBezTo>
                    <a:pt x="121582" y="0"/>
                    <a:pt x="146024" y="10124"/>
                    <a:pt x="164045" y="28146"/>
                  </a:cubicBezTo>
                  <a:cubicBezTo>
                    <a:pt x="182067" y="46167"/>
                    <a:pt x="192191" y="70609"/>
                    <a:pt x="192191" y="96096"/>
                  </a:cubicBezTo>
                  <a:lnTo>
                    <a:pt x="192191" y="96096"/>
                  </a:lnTo>
                  <a:cubicBezTo>
                    <a:pt x="192191" y="121582"/>
                    <a:pt x="182067" y="146024"/>
                    <a:pt x="164045" y="164045"/>
                  </a:cubicBezTo>
                  <a:cubicBezTo>
                    <a:pt x="146024" y="182067"/>
                    <a:pt x="121582" y="192191"/>
                    <a:pt x="96096" y="192191"/>
                  </a:cubicBezTo>
                  <a:lnTo>
                    <a:pt x="96096" y="192191"/>
                  </a:lnTo>
                  <a:cubicBezTo>
                    <a:pt x="70609" y="192191"/>
                    <a:pt x="46167" y="182067"/>
                    <a:pt x="28146" y="164045"/>
                  </a:cubicBezTo>
                  <a:cubicBezTo>
                    <a:pt x="10124" y="146024"/>
                    <a:pt x="0" y="121582"/>
                    <a:pt x="0" y="96096"/>
                  </a:cubicBezTo>
                  <a:lnTo>
                    <a:pt x="0" y="96096"/>
                  </a:lnTo>
                  <a:cubicBezTo>
                    <a:pt x="0" y="70609"/>
                    <a:pt x="10124" y="46167"/>
                    <a:pt x="28146" y="28146"/>
                  </a:cubicBezTo>
                  <a:cubicBezTo>
                    <a:pt x="46167" y="10124"/>
                    <a:pt x="70609" y="0"/>
                    <a:pt x="96096" y="0"/>
                  </a:cubicBezTo>
                  <a:close/>
                </a:path>
              </a:pathLst>
            </a:custGeom>
            <a:solidFill>
              <a:srgbClr val="7B29E8"/>
            </a:solidFill>
          </p:spPr>
        </p:sp>
        <p:sp>
          <p:nvSpPr>
            <p:cNvPr id="13" name="TextBox 13"/>
            <p:cNvSpPr txBox="1"/>
            <p:nvPr/>
          </p:nvSpPr>
          <p:spPr>
            <a:xfrm>
              <a:off x="0" y="-66675"/>
              <a:ext cx="192191" cy="258866"/>
            </a:xfrm>
            <a:prstGeom prst="rect">
              <a:avLst/>
            </a:prstGeom>
          </p:spPr>
          <p:txBody>
            <a:bodyPr lIns="50800" tIns="50800" rIns="50800" bIns="50800" rtlCol="0" anchor="ctr"/>
            <a:lstStyle/>
            <a:p>
              <a:pPr algn="ctr">
                <a:lnSpc>
                  <a:spcPts val="3079"/>
                </a:lnSpc>
              </a:pPr>
              <a:endParaRPr/>
            </a:p>
          </p:txBody>
        </p:sp>
      </p:grpSp>
      <p:grpSp>
        <p:nvGrpSpPr>
          <p:cNvPr id="14" name="Group 14"/>
          <p:cNvGrpSpPr/>
          <p:nvPr/>
        </p:nvGrpSpPr>
        <p:grpSpPr>
          <a:xfrm>
            <a:off x="5574135" y="5819921"/>
            <a:ext cx="7151687" cy="737090"/>
            <a:chOff x="0" y="0"/>
            <a:chExt cx="1864751" cy="192191"/>
          </a:xfrm>
        </p:grpSpPr>
        <p:sp>
          <p:nvSpPr>
            <p:cNvPr id="15" name="Freeform 15"/>
            <p:cNvSpPr/>
            <p:nvPr/>
          </p:nvSpPr>
          <p:spPr>
            <a:xfrm>
              <a:off x="0" y="0"/>
              <a:ext cx="1864751" cy="192191"/>
            </a:xfrm>
            <a:custGeom>
              <a:avLst/>
              <a:gdLst/>
              <a:ahLst/>
              <a:cxnLst/>
              <a:rect l="l" t="t" r="r" b="b"/>
              <a:pathLst>
                <a:path w="1864751" h="192191">
                  <a:moveTo>
                    <a:pt x="23816" y="0"/>
                  </a:moveTo>
                  <a:lnTo>
                    <a:pt x="1840936" y="0"/>
                  </a:lnTo>
                  <a:cubicBezTo>
                    <a:pt x="1847252" y="0"/>
                    <a:pt x="1853310" y="2509"/>
                    <a:pt x="1857776" y="6975"/>
                  </a:cubicBezTo>
                  <a:cubicBezTo>
                    <a:pt x="1862242" y="11442"/>
                    <a:pt x="1864751" y="17499"/>
                    <a:pt x="1864751" y="23816"/>
                  </a:cubicBezTo>
                  <a:lnTo>
                    <a:pt x="1864751" y="168375"/>
                  </a:lnTo>
                  <a:cubicBezTo>
                    <a:pt x="1864751" y="174692"/>
                    <a:pt x="1862242" y="180749"/>
                    <a:pt x="1857776" y="185216"/>
                  </a:cubicBezTo>
                  <a:cubicBezTo>
                    <a:pt x="1853310" y="189682"/>
                    <a:pt x="1847252" y="192191"/>
                    <a:pt x="1840936" y="192191"/>
                  </a:cubicBezTo>
                  <a:lnTo>
                    <a:pt x="23816" y="192191"/>
                  </a:lnTo>
                  <a:cubicBezTo>
                    <a:pt x="10663" y="192191"/>
                    <a:pt x="0" y="181528"/>
                    <a:pt x="0" y="168375"/>
                  </a:cubicBezTo>
                  <a:lnTo>
                    <a:pt x="0" y="23816"/>
                  </a:lnTo>
                  <a:cubicBezTo>
                    <a:pt x="0" y="17499"/>
                    <a:pt x="2509" y="11442"/>
                    <a:pt x="6975" y="6975"/>
                  </a:cubicBezTo>
                  <a:cubicBezTo>
                    <a:pt x="11442" y="2509"/>
                    <a:pt x="17499" y="0"/>
                    <a:pt x="23816" y="0"/>
                  </a:cubicBezTo>
                  <a:close/>
                </a:path>
              </a:pathLst>
            </a:custGeom>
            <a:solidFill>
              <a:srgbClr val="F5F5F5"/>
            </a:solidFill>
          </p:spPr>
        </p:sp>
        <p:sp>
          <p:nvSpPr>
            <p:cNvPr id="16" name="TextBox 16"/>
            <p:cNvSpPr txBox="1"/>
            <p:nvPr/>
          </p:nvSpPr>
          <p:spPr>
            <a:xfrm>
              <a:off x="0" y="-66675"/>
              <a:ext cx="1864751" cy="258866"/>
            </a:xfrm>
            <a:prstGeom prst="rect">
              <a:avLst/>
            </a:prstGeom>
          </p:spPr>
          <p:txBody>
            <a:bodyPr lIns="50800" tIns="50800" rIns="50800" bIns="50800" rtlCol="0" anchor="ctr"/>
            <a:lstStyle/>
            <a:p>
              <a:pPr algn="ctr">
                <a:lnSpc>
                  <a:spcPts val="3079"/>
                </a:lnSpc>
              </a:pPr>
              <a:endParaRPr/>
            </a:p>
          </p:txBody>
        </p:sp>
      </p:grpSp>
      <p:grpSp>
        <p:nvGrpSpPr>
          <p:cNvPr id="17" name="Group 17"/>
          <p:cNvGrpSpPr/>
          <p:nvPr/>
        </p:nvGrpSpPr>
        <p:grpSpPr>
          <a:xfrm>
            <a:off x="5473059" y="5819921"/>
            <a:ext cx="737090" cy="737090"/>
            <a:chOff x="0" y="0"/>
            <a:chExt cx="192191" cy="192191"/>
          </a:xfrm>
        </p:grpSpPr>
        <p:sp>
          <p:nvSpPr>
            <p:cNvPr id="18" name="Freeform 18"/>
            <p:cNvSpPr/>
            <p:nvPr/>
          </p:nvSpPr>
          <p:spPr>
            <a:xfrm>
              <a:off x="0" y="0"/>
              <a:ext cx="192191" cy="192191"/>
            </a:xfrm>
            <a:custGeom>
              <a:avLst/>
              <a:gdLst/>
              <a:ahLst/>
              <a:cxnLst/>
              <a:rect l="l" t="t" r="r" b="b"/>
              <a:pathLst>
                <a:path w="192191" h="192191">
                  <a:moveTo>
                    <a:pt x="96096" y="0"/>
                  </a:moveTo>
                  <a:lnTo>
                    <a:pt x="96096" y="0"/>
                  </a:lnTo>
                  <a:cubicBezTo>
                    <a:pt x="121582" y="0"/>
                    <a:pt x="146024" y="10124"/>
                    <a:pt x="164045" y="28146"/>
                  </a:cubicBezTo>
                  <a:cubicBezTo>
                    <a:pt x="182067" y="46167"/>
                    <a:pt x="192191" y="70609"/>
                    <a:pt x="192191" y="96096"/>
                  </a:cubicBezTo>
                  <a:lnTo>
                    <a:pt x="192191" y="96096"/>
                  </a:lnTo>
                  <a:cubicBezTo>
                    <a:pt x="192191" y="121582"/>
                    <a:pt x="182067" y="146024"/>
                    <a:pt x="164045" y="164045"/>
                  </a:cubicBezTo>
                  <a:cubicBezTo>
                    <a:pt x="146024" y="182067"/>
                    <a:pt x="121582" y="192191"/>
                    <a:pt x="96096" y="192191"/>
                  </a:cubicBezTo>
                  <a:lnTo>
                    <a:pt x="96096" y="192191"/>
                  </a:lnTo>
                  <a:cubicBezTo>
                    <a:pt x="70609" y="192191"/>
                    <a:pt x="46167" y="182067"/>
                    <a:pt x="28146" y="164045"/>
                  </a:cubicBezTo>
                  <a:cubicBezTo>
                    <a:pt x="10124" y="146024"/>
                    <a:pt x="0" y="121582"/>
                    <a:pt x="0" y="96096"/>
                  </a:cubicBezTo>
                  <a:lnTo>
                    <a:pt x="0" y="96096"/>
                  </a:lnTo>
                  <a:cubicBezTo>
                    <a:pt x="0" y="70609"/>
                    <a:pt x="10124" y="46167"/>
                    <a:pt x="28146" y="28146"/>
                  </a:cubicBezTo>
                  <a:cubicBezTo>
                    <a:pt x="46167" y="10124"/>
                    <a:pt x="70609" y="0"/>
                    <a:pt x="96096" y="0"/>
                  </a:cubicBezTo>
                  <a:close/>
                </a:path>
              </a:pathLst>
            </a:custGeom>
            <a:solidFill>
              <a:srgbClr val="7B29E8"/>
            </a:solidFill>
          </p:spPr>
        </p:sp>
        <p:sp>
          <p:nvSpPr>
            <p:cNvPr id="19" name="TextBox 19"/>
            <p:cNvSpPr txBox="1"/>
            <p:nvPr/>
          </p:nvSpPr>
          <p:spPr>
            <a:xfrm>
              <a:off x="0" y="-66675"/>
              <a:ext cx="192191" cy="258866"/>
            </a:xfrm>
            <a:prstGeom prst="rect">
              <a:avLst/>
            </a:prstGeom>
          </p:spPr>
          <p:txBody>
            <a:bodyPr lIns="50800" tIns="50800" rIns="50800" bIns="50800" rtlCol="0" anchor="ctr"/>
            <a:lstStyle/>
            <a:p>
              <a:pPr algn="ctr">
                <a:lnSpc>
                  <a:spcPts val="3079"/>
                </a:lnSpc>
              </a:pPr>
              <a:endParaRPr/>
            </a:p>
          </p:txBody>
        </p:sp>
      </p:grpSp>
      <p:grpSp>
        <p:nvGrpSpPr>
          <p:cNvPr id="20" name="Group 20"/>
          <p:cNvGrpSpPr/>
          <p:nvPr/>
        </p:nvGrpSpPr>
        <p:grpSpPr>
          <a:xfrm>
            <a:off x="5574135" y="6861812"/>
            <a:ext cx="7151687" cy="737090"/>
            <a:chOff x="0" y="0"/>
            <a:chExt cx="1864751" cy="192191"/>
          </a:xfrm>
        </p:grpSpPr>
        <p:sp>
          <p:nvSpPr>
            <p:cNvPr id="21" name="Freeform 21"/>
            <p:cNvSpPr/>
            <p:nvPr/>
          </p:nvSpPr>
          <p:spPr>
            <a:xfrm>
              <a:off x="0" y="0"/>
              <a:ext cx="1864751" cy="192191"/>
            </a:xfrm>
            <a:custGeom>
              <a:avLst/>
              <a:gdLst/>
              <a:ahLst/>
              <a:cxnLst/>
              <a:rect l="l" t="t" r="r" b="b"/>
              <a:pathLst>
                <a:path w="1864751" h="192191">
                  <a:moveTo>
                    <a:pt x="23816" y="0"/>
                  </a:moveTo>
                  <a:lnTo>
                    <a:pt x="1840936" y="0"/>
                  </a:lnTo>
                  <a:cubicBezTo>
                    <a:pt x="1847252" y="0"/>
                    <a:pt x="1853310" y="2509"/>
                    <a:pt x="1857776" y="6975"/>
                  </a:cubicBezTo>
                  <a:cubicBezTo>
                    <a:pt x="1862242" y="11442"/>
                    <a:pt x="1864751" y="17499"/>
                    <a:pt x="1864751" y="23816"/>
                  </a:cubicBezTo>
                  <a:lnTo>
                    <a:pt x="1864751" y="168375"/>
                  </a:lnTo>
                  <a:cubicBezTo>
                    <a:pt x="1864751" y="174692"/>
                    <a:pt x="1862242" y="180749"/>
                    <a:pt x="1857776" y="185216"/>
                  </a:cubicBezTo>
                  <a:cubicBezTo>
                    <a:pt x="1853310" y="189682"/>
                    <a:pt x="1847252" y="192191"/>
                    <a:pt x="1840936" y="192191"/>
                  </a:cubicBezTo>
                  <a:lnTo>
                    <a:pt x="23816" y="192191"/>
                  </a:lnTo>
                  <a:cubicBezTo>
                    <a:pt x="10663" y="192191"/>
                    <a:pt x="0" y="181528"/>
                    <a:pt x="0" y="168375"/>
                  </a:cubicBezTo>
                  <a:lnTo>
                    <a:pt x="0" y="23816"/>
                  </a:lnTo>
                  <a:cubicBezTo>
                    <a:pt x="0" y="17499"/>
                    <a:pt x="2509" y="11442"/>
                    <a:pt x="6975" y="6975"/>
                  </a:cubicBezTo>
                  <a:cubicBezTo>
                    <a:pt x="11442" y="2509"/>
                    <a:pt x="17499" y="0"/>
                    <a:pt x="23816" y="0"/>
                  </a:cubicBezTo>
                  <a:close/>
                </a:path>
              </a:pathLst>
            </a:custGeom>
            <a:solidFill>
              <a:srgbClr val="F5F5F5"/>
            </a:solidFill>
          </p:spPr>
        </p:sp>
        <p:sp>
          <p:nvSpPr>
            <p:cNvPr id="22" name="TextBox 22"/>
            <p:cNvSpPr txBox="1"/>
            <p:nvPr/>
          </p:nvSpPr>
          <p:spPr>
            <a:xfrm>
              <a:off x="0" y="-66675"/>
              <a:ext cx="1864751" cy="258866"/>
            </a:xfrm>
            <a:prstGeom prst="rect">
              <a:avLst/>
            </a:prstGeom>
          </p:spPr>
          <p:txBody>
            <a:bodyPr lIns="50800" tIns="50800" rIns="50800" bIns="50800" rtlCol="0" anchor="ctr"/>
            <a:lstStyle/>
            <a:p>
              <a:pPr algn="ctr">
                <a:lnSpc>
                  <a:spcPts val="3079"/>
                </a:lnSpc>
              </a:pPr>
              <a:endParaRPr/>
            </a:p>
          </p:txBody>
        </p:sp>
      </p:grpSp>
      <p:grpSp>
        <p:nvGrpSpPr>
          <p:cNvPr id="23" name="Group 23"/>
          <p:cNvGrpSpPr/>
          <p:nvPr/>
        </p:nvGrpSpPr>
        <p:grpSpPr>
          <a:xfrm>
            <a:off x="5473059" y="6861812"/>
            <a:ext cx="737090" cy="737090"/>
            <a:chOff x="0" y="0"/>
            <a:chExt cx="192191" cy="192191"/>
          </a:xfrm>
        </p:grpSpPr>
        <p:sp>
          <p:nvSpPr>
            <p:cNvPr id="24" name="Freeform 24"/>
            <p:cNvSpPr/>
            <p:nvPr/>
          </p:nvSpPr>
          <p:spPr>
            <a:xfrm>
              <a:off x="0" y="0"/>
              <a:ext cx="192191" cy="192191"/>
            </a:xfrm>
            <a:custGeom>
              <a:avLst/>
              <a:gdLst/>
              <a:ahLst/>
              <a:cxnLst/>
              <a:rect l="l" t="t" r="r" b="b"/>
              <a:pathLst>
                <a:path w="192191" h="192191">
                  <a:moveTo>
                    <a:pt x="96096" y="0"/>
                  </a:moveTo>
                  <a:lnTo>
                    <a:pt x="96096" y="0"/>
                  </a:lnTo>
                  <a:cubicBezTo>
                    <a:pt x="121582" y="0"/>
                    <a:pt x="146024" y="10124"/>
                    <a:pt x="164045" y="28146"/>
                  </a:cubicBezTo>
                  <a:cubicBezTo>
                    <a:pt x="182067" y="46167"/>
                    <a:pt x="192191" y="70609"/>
                    <a:pt x="192191" y="96096"/>
                  </a:cubicBezTo>
                  <a:lnTo>
                    <a:pt x="192191" y="96096"/>
                  </a:lnTo>
                  <a:cubicBezTo>
                    <a:pt x="192191" y="121582"/>
                    <a:pt x="182067" y="146024"/>
                    <a:pt x="164045" y="164045"/>
                  </a:cubicBezTo>
                  <a:cubicBezTo>
                    <a:pt x="146024" y="182067"/>
                    <a:pt x="121582" y="192191"/>
                    <a:pt x="96096" y="192191"/>
                  </a:cubicBezTo>
                  <a:lnTo>
                    <a:pt x="96096" y="192191"/>
                  </a:lnTo>
                  <a:cubicBezTo>
                    <a:pt x="70609" y="192191"/>
                    <a:pt x="46167" y="182067"/>
                    <a:pt x="28146" y="164045"/>
                  </a:cubicBezTo>
                  <a:cubicBezTo>
                    <a:pt x="10124" y="146024"/>
                    <a:pt x="0" y="121582"/>
                    <a:pt x="0" y="96096"/>
                  </a:cubicBezTo>
                  <a:lnTo>
                    <a:pt x="0" y="96096"/>
                  </a:lnTo>
                  <a:cubicBezTo>
                    <a:pt x="0" y="70609"/>
                    <a:pt x="10124" y="46167"/>
                    <a:pt x="28146" y="28146"/>
                  </a:cubicBezTo>
                  <a:cubicBezTo>
                    <a:pt x="46167" y="10124"/>
                    <a:pt x="70609" y="0"/>
                    <a:pt x="96096" y="0"/>
                  </a:cubicBezTo>
                  <a:close/>
                </a:path>
              </a:pathLst>
            </a:custGeom>
            <a:solidFill>
              <a:srgbClr val="7B29E8"/>
            </a:solidFill>
          </p:spPr>
        </p:sp>
        <p:sp>
          <p:nvSpPr>
            <p:cNvPr id="25" name="TextBox 25"/>
            <p:cNvSpPr txBox="1"/>
            <p:nvPr/>
          </p:nvSpPr>
          <p:spPr>
            <a:xfrm>
              <a:off x="0" y="-66675"/>
              <a:ext cx="192191" cy="258866"/>
            </a:xfrm>
            <a:prstGeom prst="rect">
              <a:avLst/>
            </a:prstGeom>
          </p:spPr>
          <p:txBody>
            <a:bodyPr lIns="50800" tIns="50800" rIns="50800" bIns="50800" rtlCol="0" anchor="ctr"/>
            <a:lstStyle/>
            <a:p>
              <a:pPr algn="ctr">
                <a:lnSpc>
                  <a:spcPts val="3079"/>
                </a:lnSpc>
              </a:pPr>
              <a:endParaRPr/>
            </a:p>
          </p:txBody>
        </p:sp>
      </p:grpSp>
      <p:sp>
        <p:nvSpPr>
          <p:cNvPr id="26" name="AutoShape 26"/>
          <p:cNvSpPr/>
          <p:nvPr/>
        </p:nvSpPr>
        <p:spPr>
          <a:xfrm>
            <a:off x="6262858" y="1102042"/>
            <a:ext cx="9031836" cy="0"/>
          </a:xfrm>
          <a:prstGeom prst="line">
            <a:avLst/>
          </a:prstGeom>
          <a:ln w="28575" cap="flat">
            <a:solidFill>
              <a:srgbClr val="0D0D0D"/>
            </a:solidFill>
            <a:prstDash val="solid"/>
            <a:headEnd type="none" w="sm" len="sm"/>
            <a:tailEnd type="none" w="sm" len="sm"/>
          </a:ln>
        </p:spPr>
      </p:sp>
      <p:sp>
        <p:nvSpPr>
          <p:cNvPr id="27" name="Freeform 27"/>
          <p:cNvSpPr/>
          <p:nvPr/>
        </p:nvSpPr>
        <p:spPr>
          <a:xfrm>
            <a:off x="1673683" y="885209"/>
            <a:ext cx="419030" cy="433666"/>
          </a:xfrm>
          <a:custGeom>
            <a:avLst/>
            <a:gdLst/>
            <a:ahLst/>
            <a:cxnLst/>
            <a:rect l="l" t="t" r="r" b="b"/>
            <a:pathLst>
              <a:path w="419030" h="433666">
                <a:moveTo>
                  <a:pt x="0" y="0"/>
                </a:moveTo>
                <a:lnTo>
                  <a:pt x="419030" y="0"/>
                </a:lnTo>
                <a:lnTo>
                  <a:pt x="419030" y="433667"/>
                </a:lnTo>
                <a:lnTo>
                  <a:pt x="0" y="4336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8" name="Freeform 28"/>
          <p:cNvSpPr/>
          <p:nvPr/>
        </p:nvSpPr>
        <p:spPr>
          <a:xfrm rot="-5400000">
            <a:off x="16055303" y="2982785"/>
            <a:ext cx="942466" cy="398192"/>
          </a:xfrm>
          <a:custGeom>
            <a:avLst/>
            <a:gdLst/>
            <a:ahLst/>
            <a:cxnLst/>
            <a:rect l="l" t="t" r="r" b="b"/>
            <a:pathLst>
              <a:path w="942466" h="398192">
                <a:moveTo>
                  <a:pt x="0" y="0"/>
                </a:moveTo>
                <a:lnTo>
                  <a:pt x="942467" y="0"/>
                </a:lnTo>
                <a:lnTo>
                  <a:pt x="942467" y="398192"/>
                </a:lnTo>
                <a:lnTo>
                  <a:pt x="0" y="3981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Freeform 29"/>
          <p:cNvSpPr/>
          <p:nvPr/>
        </p:nvSpPr>
        <p:spPr>
          <a:xfrm>
            <a:off x="8640649" y="3181881"/>
            <a:ext cx="917582" cy="219073"/>
          </a:xfrm>
          <a:custGeom>
            <a:avLst/>
            <a:gdLst/>
            <a:ahLst/>
            <a:cxnLst/>
            <a:rect l="l" t="t" r="r" b="b"/>
            <a:pathLst>
              <a:path w="917582" h="219073">
                <a:moveTo>
                  <a:pt x="0" y="0"/>
                </a:moveTo>
                <a:lnTo>
                  <a:pt x="917582" y="0"/>
                </a:lnTo>
                <a:lnTo>
                  <a:pt x="917582" y="219073"/>
                </a:lnTo>
                <a:lnTo>
                  <a:pt x="0" y="2190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0" name="TextBox 30"/>
          <p:cNvSpPr txBox="1"/>
          <p:nvPr/>
        </p:nvSpPr>
        <p:spPr>
          <a:xfrm>
            <a:off x="6610219" y="3880710"/>
            <a:ext cx="2051950" cy="378471"/>
          </a:xfrm>
          <a:prstGeom prst="rect">
            <a:avLst/>
          </a:prstGeom>
        </p:spPr>
        <p:txBody>
          <a:bodyPr lIns="0" tIns="0" rIns="0" bIns="0" rtlCol="0" anchor="t">
            <a:spAutoFit/>
          </a:bodyPr>
          <a:lstStyle/>
          <a:p>
            <a:pPr algn="l">
              <a:lnSpc>
                <a:spcPts val="2969"/>
              </a:lnSpc>
            </a:pPr>
            <a:r>
              <a:rPr lang="en-US" sz="2121">
                <a:solidFill>
                  <a:srgbClr val="0D0D0D"/>
                </a:solidFill>
                <a:latin typeface="Poppins"/>
                <a:ea typeface="Poppins"/>
                <a:cs typeface="Poppins"/>
                <a:sym typeface="Poppins"/>
              </a:rPr>
              <a:t>Problem</a:t>
            </a:r>
          </a:p>
        </p:txBody>
      </p:sp>
      <p:sp>
        <p:nvSpPr>
          <p:cNvPr id="31" name="TextBox 31"/>
          <p:cNvSpPr txBox="1"/>
          <p:nvPr/>
        </p:nvSpPr>
        <p:spPr>
          <a:xfrm>
            <a:off x="4796738" y="2135928"/>
            <a:ext cx="8605405" cy="967105"/>
          </a:xfrm>
          <a:prstGeom prst="rect">
            <a:avLst/>
          </a:prstGeom>
        </p:spPr>
        <p:txBody>
          <a:bodyPr lIns="0" tIns="0" rIns="0" bIns="0" rtlCol="0" anchor="t">
            <a:spAutoFit/>
          </a:bodyPr>
          <a:lstStyle/>
          <a:p>
            <a:pPr algn="ctr">
              <a:lnSpc>
                <a:spcPts val="7039"/>
              </a:lnSpc>
            </a:pPr>
            <a:r>
              <a:rPr lang="en-US" sz="6399" b="1">
                <a:solidFill>
                  <a:srgbClr val="000000"/>
                </a:solidFill>
                <a:latin typeface="Poppins Semi-Bold"/>
                <a:ea typeface="Poppins Semi-Bold"/>
                <a:cs typeface="Poppins Semi-Bold"/>
                <a:sym typeface="Poppins Semi-Bold"/>
              </a:rPr>
              <a:t>Table of Contents</a:t>
            </a:r>
          </a:p>
        </p:txBody>
      </p:sp>
      <p:sp>
        <p:nvSpPr>
          <p:cNvPr id="32" name="TextBox 32"/>
          <p:cNvSpPr txBox="1"/>
          <p:nvPr/>
        </p:nvSpPr>
        <p:spPr>
          <a:xfrm>
            <a:off x="5747159" y="3834304"/>
            <a:ext cx="188890" cy="461783"/>
          </a:xfrm>
          <a:prstGeom prst="rect">
            <a:avLst/>
          </a:prstGeom>
        </p:spPr>
        <p:txBody>
          <a:bodyPr lIns="0" tIns="0" rIns="0" bIns="0" rtlCol="0" anchor="t">
            <a:spAutoFit/>
          </a:bodyPr>
          <a:lstStyle/>
          <a:p>
            <a:pPr algn="ctr">
              <a:lnSpc>
                <a:spcPts val="3676"/>
              </a:lnSpc>
            </a:pPr>
            <a:r>
              <a:rPr lang="en-US" sz="2626" b="1">
                <a:solidFill>
                  <a:srgbClr val="FFFFFF"/>
                </a:solidFill>
                <a:latin typeface="Poppins Bold"/>
                <a:ea typeface="Poppins Bold"/>
                <a:cs typeface="Poppins Bold"/>
                <a:sym typeface="Poppins Bold"/>
              </a:rPr>
              <a:t>1</a:t>
            </a:r>
          </a:p>
        </p:txBody>
      </p:sp>
      <p:sp>
        <p:nvSpPr>
          <p:cNvPr id="33" name="TextBox 33"/>
          <p:cNvSpPr txBox="1"/>
          <p:nvPr/>
        </p:nvSpPr>
        <p:spPr>
          <a:xfrm>
            <a:off x="6610219" y="4925677"/>
            <a:ext cx="2051950" cy="378471"/>
          </a:xfrm>
          <a:prstGeom prst="rect">
            <a:avLst/>
          </a:prstGeom>
        </p:spPr>
        <p:txBody>
          <a:bodyPr lIns="0" tIns="0" rIns="0" bIns="0" rtlCol="0" anchor="t">
            <a:spAutoFit/>
          </a:bodyPr>
          <a:lstStyle/>
          <a:p>
            <a:pPr algn="l">
              <a:lnSpc>
                <a:spcPts val="2969"/>
              </a:lnSpc>
            </a:pPr>
            <a:r>
              <a:rPr lang="en-US" sz="2121">
                <a:solidFill>
                  <a:srgbClr val="0D0D0D"/>
                </a:solidFill>
                <a:latin typeface="Poppins"/>
                <a:ea typeface="Poppins"/>
                <a:cs typeface="Poppins"/>
                <a:sym typeface="Poppins"/>
              </a:rPr>
              <a:t>Solution</a:t>
            </a:r>
          </a:p>
        </p:txBody>
      </p:sp>
      <p:sp>
        <p:nvSpPr>
          <p:cNvPr id="34" name="TextBox 34"/>
          <p:cNvSpPr txBox="1"/>
          <p:nvPr/>
        </p:nvSpPr>
        <p:spPr>
          <a:xfrm>
            <a:off x="5747159" y="4879271"/>
            <a:ext cx="188890" cy="461783"/>
          </a:xfrm>
          <a:prstGeom prst="rect">
            <a:avLst/>
          </a:prstGeom>
        </p:spPr>
        <p:txBody>
          <a:bodyPr lIns="0" tIns="0" rIns="0" bIns="0" rtlCol="0" anchor="t">
            <a:spAutoFit/>
          </a:bodyPr>
          <a:lstStyle/>
          <a:p>
            <a:pPr algn="ctr">
              <a:lnSpc>
                <a:spcPts val="3676"/>
              </a:lnSpc>
            </a:pPr>
            <a:r>
              <a:rPr lang="en-US" sz="2626" b="1">
                <a:solidFill>
                  <a:srgbClr val="FFFFFF"/>
                </a:solidFill>
                <a:latin typeface="Poppins Bold"/>
                <a:ea typeface="Poppins Bold"/>
                <a:cs typeface="Poppins Bold"/>
                <a:sym typeface="Poppins Bold"/>
              </a:rPr>
              <a:t>2</a:t>
            </a:r>
          </a:p>
        </p:txBody>
      </p:sp>
      <p:sp>
        <p:nvSpPr>
          <p:cNvPr id="35" name="TextBox 35"/>
          <p:cNvSpPr txBox="1"/>
          <p:nvPr/>
        </p:nvSpPr>
        <p:spPr>
          <a:xfrm>
            <a:off x="6610219" y="5970644"/>
            <a:ext cx="3335464" cy="378496"/>
          </a:xfrm>
          <a:prstGeom prst="rect">
            <a:avLst/>
          </a:prstGeom>
        </p:spPr>
        <p:txBody>
          <a:bodyPr lIns="0" tIns="0" rIns="0" bIns="0" rtlCol="0" anchor="t">
            <a:spAutoFit/>
          </a:bodyPr>
          <a:lstStyle/>
          <a:p>
            <a:pPr algn="l">
              <a:lnSpc>
                <a:spcPts val="2969"/>
              </a:lnSpc>
            </a:pPr>
            <a:r>
              <a:rPr lang="en-US" sz="2121">
                <a:solidFill>
                  <a:srgbClr val="0D0D0D"/>
                </a:solidFill>
                <a:latin typeface="Poppins"/>
                <a:ea typeface="Poppins"/>
                <a:cs typeface="Poppins"/>
                <a:sym typeface="Poppins"/>
              </a:rPr>
              <a:t>Solution Overview</a:t>
            </a:r>
          </a:p>
        </p:txBody>
      </p:sp>
      <p:sp>
        <p:nvSpPr>
          <p:cNvPr id="36" name="TextBox 36"/>
          <p:cNvSpPr txBox="1"/>
          <p:nvPr/>
        </p:nvSpPr>
        <p:spPr>
          <a:xfrm>
            <a:off x="5747159" y="5924238"/>
            <a:ext cx="188890" cy="461783"/>
          </a:xfrm>
          <a:prstGeom prst="rect">
            <a:avLst/>
          </a:prstGeom>
        </p:spPr>
        <p:txBody>
          <a:bodyPr lIns="0" tIns="0" rIns="0" bIns="0" rtlCol="0" anchor="t">
            <a:spAutoFit/>
          </a:bodyPr>
          <a:lstStyle/>
          <a:p>
            <a:pPr algn="ctr">
              <a:lnSpc>
                <a:spcPts val="3676"/>
              </a:lnSpc>
            </a:pPr>
            <a:r>
              <a:rPr lang="en-US" sz="2626" b="1">
                <a:solidFill>
                  <a:srgbClr val="FFFFFF"/>
                </a:solidFill>
                <a:latin typeface="Poppins Bold"/>
                <a:ea typeface="Poppins Bold"/>
                <a:cs typeface="Poppins Bold"/>
                <a:sym typeface="Poppins Bold"/>
              </a:rPr>
              <a:t>3</a:t>
            </a:r>
          </a:p>
        </p:txBody>
      </p:sp>
      <p:sp>
        <p:nvSpPr>
          <p:cNvPr id="37" name="TextBox 37"/>
          <p:cNvSpPr txBox="1"/>
          <p:nvPr/>
        </p:nvSpPr>
        <p:spPr>
          <a:xfrm>
            <a:off x="6610219" y="7012534"/>
            <a:ext cx="4934437" cy="378496"/>
          </a:xfrm>
          <a:prstGeom prst="rect">
            <a:avLst/>
          </a:prstGeom>
        </p:spPr>
        <p:txBody>
          <a:bodyPr lIns="0" tIns="0" rIns="0" bIns="0" rtlCol="0" anchor="t">
            <a:spAutoFit/>
          </a:bodyPr>
          <a:lstStyle/>
          <a:p>
            <a:pPr algn="l">
              <a:lnSpc>
                <a:spcPts val="2969"/>
              </a:lnSpc>
            </a:pPr>
            <a:r>
              <a:rPr lang="en-US" sz="2121">
                <a:solidFill>
                  <a:srgbClr val="0D0D0D"/>
                </a:solidFill>
                <a:latin typeface="Poppins"/>
                <a:ea typeface="Poppins"/>
                <a:cs typeface="Poppins"/>
                <a:sym typeface="Poppins"/>
              </a:rPr>
              <a:t>Tech Stack- Behind the screen</a:t>
            </a:r>
          </a:p>
        </p:txBody>
      </p:sp>
      <p:sp>
        <p:nvSpPr>
          <p:cNvPr id="38" name="TextBox 38"/>
          <p:cNvSpPr txBox="1"/>
          <p:nvPr/>
        </p:nvSpPr>
        <p:spPr>
          <a:xfrm>
            <a:off x="5747159" y="6966128"/>
            <a:ext cx="188890" cy="461783"/>
          </a:xfrm>
          <a:prstGeom prst="rect">
            <a:avLst/>
          </a:prstGeom>
        </p:spPr>
        <p:txBody>
          <a:bodyPr lIns="0" tIns="0" rIns="0" bIns="0" rtlCol="0" anchor="t">
            <a:spAutoFit/>
          </a:bodyPr>
          <a:lstStyle/>
          <a:p>
            <a:pPr algn="ctr">
              <a:lnSpc>
                <a:spcPts val="3676"/>
              </a:lnSpc>
            </a:pPr>
            <a:r>
              <a:rPr lang="en-US" sz="2626" b="1">
                <a:solidFill>
                  <a:srgbClr val="FFFFFF"/>
                </a:solidFill>
                <a:latin typeface="Poppins Bold"/>
                <a:ea typeface="Poppins Bold"/>
                <a:cs typeface="Poppins Bold"/>
                <a:sym typeface="Poppins Bold"/>
              </a:rPr>
              <a:t>4</a:t>
            </a:r>
          </a:p>
        </p:txBody>
      </p:sp>
      <p:sp>
        <p:nvSpPr>
          <p:cNvPr id="39" name="TextBox 39"/>
          <p:cNvSpPr txBox="1"/>
          <p:nvPr/>
        </p:nvSpPr>
        <p:spPr>
          <a:xfrm>
            <a:off x="2276489" y="876300"/>
            <a:ext cx="2219311" cy="383182"/>
          </a:xfrm>
          <a:prstGeom prst="rect">
            <a:avLst/>
          </a:prstGeom>
        </p:spPr>
        <p:txBody>
          <a:bodyPr wrap="square" lIns="0" tIns="0" rIns="0" bIns="0" rtlCol="0" anchor="t">
            <a:spAutoFit/>
          </a:bodyPr>
          <a:lstStyle/>
          <a:p>
            <a:pPr algn="l">
              <a:lnSpc>
                <a:spcPts val="3079"/>
              </a:lnSpc>
              <a:spcBef>
                <a:spcPct val="0"/>
              </a:spcBef>
            </a:pPr>
            <a:r>
              <a:rPr lang="en-IN" sz="2400" b="0" i="0" dirty="0" err="1">
                <a:solidFill>
                  <a:srgbClr val="1F1F1F"/>
                </a:solidFill>
                <a:effectLst/>
                <a:latin typeface="Google Sans"/>
              </a:rPr>
              <a:t>IntelliHack</a:t>
            </a:r>
            <a:r>
              <a:rPr lang="en-IN" sz="2400" b="0" i="0" dirty="0">
                <a:solidFill>
                  <a:srgbClr val="1F1F1F"/>
                </a:solidFill>
                <a:effectLst/>
                <a:latin typeface="Google Sans"/>
              </a:rPr>
              <a:t> SRM</a:t>
            </a:r>
            <a:endParaRPr lang="en-US" sz="2199" dirty="0">
              <a:solidFill>
                <a:srgbClr val="0D0D0D"/>
              </a:solidFill>
              <a:latin typeface="Poppins"/>
              <a:ea typeface="Poppins"/>
              <a:cs typeface="Poppins"/>
              <a:sym typeface="Poppins"/>
            </a:endParaRPr>
          </a:p>
        </p:txBody>
      </p:sp>
      <p:grpSp>
        <p:nvGrpSpPr>
          <p:cNvPr id="40" name="Group 40"/>
          <p:cNvGrpSpPr/>
          <p:nvPr/>
        </p:nvGrpSpPr>
        <p:grpSpPr>
          <a:xfrm>
            <a:off x="5574135" y="7932277"/>
            <a:ext cx="7151687" cy="737090"/>
            <a:chOff x="0" y="0"/>
            <a:chExt cx="1864751" cy="192191"/>
          </a:xfrm>
        </p:grpSpPr>
        <p:sp>
          <p:nvSpPr>
            <p:cNvPr id="41" name="Freeform 41"/>
            <p:cNvSpPr/>
            <p:nvPr/>
          </p:nvSpPr>
          <p:spPr>
            <a:xfrm>
              <a:off x="0" y="0"/>
              <a:ext cx="1864751" cy="192191"/>
            </a:xfrm>
            <a:custGeom>
              <a:avLst/>
              <a:gdLst/>
              <a:ahLst/>
              <a:cxnLst/>
              <a:rect l="l" t="t" r="r" b="b"/>
              <a:pathLst>
                <a:path w="1864751" h="192191">
                  <a:moveTo>
                    <a:pt x="23816" y="0"/>
                  </a:moveTo>
                  <a:lnTo>
                    <a:pt x="1840936" y="0"/>
                  </a:lnTo>
                  <a:cubicBezTo>
                    <a:pt x="1847252" y="0"/>
                    <a:pt x="1853310" y="2509"/>
                    <a:pt x="1857776" y="6975"/>
                  </a:cubicBezTo>
                  <a:cubicBezTo>
                    <a:pt x="1862242" y="11442"/>
                    <a:pt x="1864751" y="17499"/>
                    <a:pt x="1864751" y="23816"/>
                  </a:cubicBezTo>
                  <a:lnTo>
                    <a:pt x="1864751" y="168375"/>
                  </a:lnTo>
                  <a:cubicBezTo>
                    <a:pt x="1864751" y="174692"/>
                    <a:pt x="1862242" y="180749"/>
                    <a:pt x="1857776" y="185216"/>
                  </a:cubicBezTo>
                  <a:cubicBezTo>
                    <a:pt x="1853310" y="189682"/>
                    <a:pt x="1847252" y="192191"/>
                    <a:pt x="1840936" y="192191"/>
                  </a:cubicBezTo>
                  <a:lnTo>
                    <a:pt x="23816" y="192191"/>
                  </a:lnTo>
                  <a:cubicBezTo>
                    <a:pt x="10663" y="192191"/>
                    <a:pt x="0" y="181528"/>
                    <a:pt x="0" y="168375"/>
                  </a:cubicBezTo>
                  <a:lnTo>
                    <a:pt x="0" y="23816"/>
                  </a:lnTo>
                  <a:cubicBezTo>
                    <a:pt x="0" y="17499"/>
                    <a:pt x="2509" y="11442"/>
                    <a:pt x="6975" y="6975"/>
                  </a:cubicBezTo>
                  <a:cubicBezTo>
                    <a:pt x="11442" y="2509"/>
                    <a:pt x="17499" y="0"/>
                    <a:pt x="23816" y="0"/>
                  </a:cubicBezTo>
                  <a:close/>
                </a:path>
              </a:pathLst>
            </a:custGeom>
            <a:solidFill>
              <a:srgbClr val="F5F5F5"/>
            </a:solidFill>
          </p:spPr>
        </p:sp>
        <p:sp>
          <p:nvSpPr>
            <p:cNvPr id="42" name="TextBox 42"/>
            <p:cNvSpPr txBox="1"/>
            <p:nvPr/>
          </p:nvSpPr>
          <p:spPr>
            <a:xfrm>
              <a:off x="0" y="-66675"/>
              <a:ext cx="1864751" cy="258866"/>
            </a:xfrm>
            <a:prstGeom prst="rect">
              <a:avLst/>
            </a:prstGeom>
          </p:spPr>
          <p:txBody>
            <a:bodyPr lIns="50800" tIns="50800" rIns="50800" bIns="50800" rtlCol="0" anchor="ctr"/>
            <a:lstStyle/>
            <a:p>
              <a:pPr algn="ctr">
                <a:lnSpc>
                  <a:spcPts val="3079"/>
                </a:lnSpc>
              </a:pPr>
              <a:endParaRPr/>
            </a:p>
          </p:txBody>
        </p:sp>
      </p:grpSp>
      <p:grpSp>
        <p:nvGrpSpPr>
          <p:cNvPr id="43" name="Group 43"/>
          <p:cNvGrpSpPr/>
          <p:nvPr/>
        </p:nvGrpSpPr>
        <p:grpSpPr>
          <a:xfrm>
            <a:off x="5473059" y="7932277"/>
            <a:ext cx="737090" cy="737090"/>
            <a:chOff x="0" y="0"/>
            <a:chExt cx="192191" cy="192191"/>
          </a:xfrm>
        </p:grpSpPr>
        <p:sp>
          <p:nvSpPr>
            <p:cNvPr id="44" name="Freeform 44"/>
            <p:cNvSpPr/>
            <p:nvPr/>
          </p:nvSpPr>
          <p:spPr>
            <a:xfrm>
              <a:off x="0" y="0"/>
              <a:ext cx="192191" cy="192191"/>
            </a:xfrm>
            <a:custGeom>
              <a:avLst/>
              <a:gdLst/>
              <a:ahLst/>
              <a:cxnLst/>
              <a:rect l="l" t="t" r="r" b="b"/>
              <a:pathLst>
                <a:path w="192191" h="192191">
                  <a:moveTo>
                    <a:pt x="96096" y="0"/>
                  </a:moveTo>
                  <a:lnTo>
                    <a:pt x="96096" y="0"/>
                  </a:lnTo>
                  <a:cubicBezTo>
                    <a:pt x="121582" y="0"/>
                    <a:pt x="146024" y="10124"/>
                    <a:pt x="164045" y="28146"/>
                  </a:cubicBezTo>
                  <a:cubicBezTo>
                    <a:pt x="182067" y="46167"/>
                    <a:pt x="192191" y="70609"/>
                    <a:pt x="192191" y="96096"/>
                  </a:cubicBezTo>
                  <a:lnTo>
                    <a:pt x="192191" y="96096"/>
                  </a:lnTo>
                  <a:cubicBezTo>
                    <a:pt x="192191" y="121582"/>
                    <a:pt x="182067" y="146024"/>
                    <a:pt x="164045" y="164045"/>
                  </a:cubicBezTo>
                  <a:cubicBezTo>
                    <a:pt x="146024" y="182067"/>
                    <a:pt x="121582" y="192191"/>
                    <a:pt x="96096" y="192191"/>
                  </a:cubicBezTo>
                  <a:lnTo>
                    <a:pt x="96096" y="192191"/>
                  </a:lnTo>
                  <a:cubicBezTo>
                    <a:pt x="70609" y="192191"/>
                    <a:pt x="46167" y="182067"/>
                    <a:pt x="28146" y="164045"/>
                  </a:cubicBezTo>
                  <a:cubicBezTo>
                    <a:pt x="10124" y="146024"/>
                    <a:pt x="0" y="121582"/>
                    <a:pt x="0" y="96096"/>
                  </a:cubicBezTo>
                  <a:lnTo>
                    <a:pt x="0" y="96096"/>
                  </a:lnTo>
                  <a:cubicBezTo>
                    <a:pt x="0" y="70609"/>
                    <a:pt x="10124" y="46167"/>
                    <a:pt x="28146" y="28146"/>
                  </a:cubicBezTo>
                  <a:cubicBezTo>
                    <a:pt x="46167" y="10124"/>
                    <a:pt x="70609" y="0"/>
                    <a:pt x="96096" y="0"/>
                  </a:cubicBezTo>
                  <a:close/>
                </a:path>
              </a:pathLst>
            </a:custGeom>
            <a:solidFill>
              <a:srgbClr val="7B29E8"/>
            </a:solidFill>
          </p:spPr>
        </p:sp>
        <p:sp>
          <p:nvSpPr>
            <p:cNvPr id="45" name="TextBox 45"/>
            <p:cNvSpPr txBox="1"/>
            <p:nvPr/>
          </p:nvSpPr>
          <p:spPr>
            <a:xfrm>
              <a:off x="0" y="-66675"/>
              <a:ext cx="192191" cy="258866"/>
            </a:xfrm>
            <a:prstGeom prst="rect">
              <a:avLst/>
            </a:prstGeom>
          </p:spPr>
          <p:txBody>
            <a:bodyPr lIns="50800" tIns="50800" rIns="50800" bIns="50800" rtlCol="0" anchor="ctr"/>
            <a:lstStyle/>
            <a:p>
              <a:pPr algn="ctr">
                <a:lnSpc>
                  <a:spcPts val="3079"/>
                </a:lnSpc>
              </a:pPr>
              <a:endParaRPr/>
            </a:p>
          </p:txBody>
        </p:sp>
      </p:grpSp>
      <p:sp>
        <p:nvSpPr>
          <p:cNvPr id="46" name="TextBox 46"/>
          <p:cNvSpPr txBox="1"/>
          <p:nvPr/>
        </p:nvSpPr>
        <p:spPr>
          <a:xfrm>
            <a:off x="6610219" y="8082999"/>
            <a:ext cx="3572166" cy="378496"/>
          </a:xfrm>
          <a:prstGeom prst="rect">
            <a:avLst/>
          </a:prstGeom>
        </p:spPr>
        <p:txBody>
          <a:bodyPr lIns="0" tIns="0" rIns="0" bIns="0" rtlCol="0" anchor="t">
            <a:spAutoFit/>
          </a:bodyPr>
          <a:lstStyle/>
          <a:p>
            <a:pPr algn="l">
              <a:lnSpc>
                <a:spcPts val="2969"/>
              </a:lnSpc>
            </a:pPr>
            <a:r>
              <a:rPr lang="en-US" sz="2121">
                <a:solidFill>
                  <a:srgbClr val="0D0D0D"/>
                </a:solidFill>
                <a:latin typeface="Poppins"/>
                <a:ea typeface="Poppins"/>
                <a:cs typeface="Poppins"/>
                <a:sym typeface="Poppins"/>
              </a:rPr>
              <a:t>User Interface Preview</a:t>
            </a:r>
          </a:p>
        </p:txBody>
      </p:sp>
      <p:sp>
        <p:nvSpPr>
          <p:cNvPr id="47" name="TextBox 47"/>
          <p:cNvSpPr txBox="1"/>
          <p:nvPr/>
        </p:nvSpPr>
        <p:spPr>
          <a:xfrm>
            <a:off x="5747159" y="8036593"/>
            <a:ext cx="188890" cy="461783"/>
          </a:xfrm>
          <a:prstGeom prst="rect">
            <a:avLst/>
          </a:prstGeom>
        </p:spPr>
        <p:txBody>
          <a:bodyPr lIns="0" tIns="0" rIns="0" bIns="0" rtlCol="0" anchor="t">
            <a:spAutoFit/>
          </a:bodyPr>
          <a:lstStyle/>
          <a:p>
            <a:pPr algn="ctr">
              <a:lnSpc>
                <a:spcPts val="3676"/>
              </a:lnSpc>
            </a:pPr>
            <a:r>
              <a:rPr lang="en-US" sz="2626" b="1">
                <a:solidFill>
                  <a:srgbClr val="FFFFFF"/>
                </a:solidFill>
                <a:latin typeface="Poppins Bold"/>
                <a:ea typeface="Poppins Bold"/>
                <a:cs typeface="Poppins Bold"/>
                <a:sym typeface="Poppins Bold"/>
              </a:rPr>
              <a:t>5</a:t>
            </a:r>
          </a:p>
        </p:txBody>
      </p:sp>
      <p:grpSp>
        <p:nvGrpSpPr>
          <p:cNvPr id="48" name="Group 48"/>
          <p:cNvGrpSpPr/>
          <p:nvPr/>
        </p:nvGrpSpPr>
        <p:grpSpPr>
          <a:xfrm>
            <a:off x="5574135" y="8889755"/>
            <a:ext cx="7151687" cy="737090"/>
            <a:chOff x="0" y="0"/>
            <a:chExt cx="1864751" cy="192191"/>
          </a:xfrm>
        </p:grpSpPr>
        <p:sp>
          <p:nvSpPr>
            <p:cNvPr id="49" name="Freeform 49"/>
            <p:cNvSpPr/>
            <p:nvPr/>
          </p:nvSpPr>
          <p:spPr>
            <a:xfrm>
              <a:off x="0" y="0"/>
              <a:ext cx="1864751" cy="192191"/>
            </a:xfrm>
            <a:custGeom>
              <a:avLst/>
              <a:gdLst/>
              <a:ahLst/>
              <a:cxnLst/>
              <a:rect l="l" t="t" r="r" b="b"/>
              <a:pathLst>
                <a:path w="1864751" h="192191">
                  <a:moveTo>
                    <a:pt x="23816" y="0"/>
                  </a:moveTo>
                  <a:lnTo>
                    <a:pt x="1840936" y="0"/>
                  </a:lnTo>
                  <a:cubicBezTo>
                    <a:pt x="1847252" y="0"/>
                    <a:pt x="1853310" y="2509"/>
                    <a:pt x="1857776" y="6975"/>
                  </a:cubicBezTo>
                  <a:cubicBezTo>
                    <a:pt x="1862242" y="11442"/>
                    <a:pt x="1864751" y="17499"/>
                    <a:pt x="1864751" y="23816"/>
                  </a:cubicBezTo>
                  <a:lnTo>
                    <a:pt x="1864751" y="168375"/>
                  </a:lnTo>
                  <a:cubicBezTo>
                    <a:pt x="1864751" y="174692"/>
                    <a:pt x="1862242" y="180749"/>
                    <a:pt x="1857776" y="185216"/>
                  </a:cubicBezTo>
                  <a:cubicBezTo>
                    <a:pt x="1853310" y="189682"/>
                    <a:pt x="1847252" y="192191"/>
                    <a:pt x="1840936" y="192191"/>
                  </a:cubicBezTo>
                  <a:lnTo>
                    <a:pt x="23816" y="192191"/>
                  </a:lnTo>
                  <a:cubicBezTo>
                    <a:pt x="10663" y="192191"/>
                    <a:pt x="0" y="181528"/>
                    <a:pt x="0" y="168375"/>
                  </a:cubicBezTo>
                  <a:lnTo>
                    <a:pt x="0" y="23816"/>
                  </a:lnTo>
                  <a:cubicBezTo>
                    <a:pt x="0" y="17499"/>
                    <a:pt x="2509" y="11442"/>
                    <a:pt x="6975" y="6975"/>
                  </a:cubicBezTo>
                  <a:cubicBezTo>
                    <a:pt x="11442" y="2509"/>
                    <a:pt x="17499" y="0"/>
                    <a:pt x="23816" y="0"/>
                  </a:cubicBezTo>
                  <a:close/>
                </a:path>
              </a:pathLst>
            </a:custGeom>
            <a:solidFill>
              <a:srgbClr val="F5F5F5"/>
            </a:solidFill>
          </p:spPr>
        </p:sp>
        <p:sp>
          <p:nvSpPr>
            <p:cNvPr id="50" name="TextBox 50"/>
            <p:cNvSpPr txBox="1"/>
            <p:nvPr/>
          </p:nvSpPr>
          <p:spPr>
            <a:xfrm>
              <a:off x="0" y="-66675"/>
              <a:ext cx="1864751" cy="258866"/>
            </a:xfrm>
            <a:prstGeom prst="rect">
              <a:avLst/>
            </a:prstGeom>
          </p:spPr>
          <p:txBody>
            <a:bodyPr lIns="50800" tIns="50800" rIns="50800" bIns="50800" rtlCol="0" anchor="ctr"/>
            <a:lstStyle/>
            <a:p>
              <a:pPr algn="ctr">
                <a:lnSpc>
                  <a:spcPts val="3079"/>
                </a:lnSpc>
              </a:pPr>
              <a:endParaRPr/>
            </a:p>
          </p:txBody>
        </p:sp>
      </p:grpSp>
      <p:grpSp>
        <p:nvGrpSpPr>
          <p:cNvPr id="51" name="Group 51"/>
          <p:cNvGrpSpPr/>
          <p:nvPr/>
        </p:nvGrpSpPr>
        <p:grpSpPr>
          <a:xfrm>
            <a:off x="5473059" y="8889755"/>
            <a:ext cx="737090" cy="737090"/>
            <a:chOff x="0" y="0"/>
            <a:chExt cx="192191" cy="192191"/>
          </a:xfrm>
        </p:grpSpPr>
        <p:sp>
          <p:nvSpPr>
            <p:cNvPr id="52" name="Freeform 52"/>
            <p:cNvSpPr/>
            <p:nvPr/>
          </p:nvSpPr>
          <p:spPr>
            <a:xfrm>
              <a:off x="0" y="0"/>
              <a:ext cx="192191" cy="192191"/>
            </a:xfrm>
            <a:custGeom>
              <a:avLst/>
              <a:gdLst/>
              <a:ahLst/>
              <a:cxnLst/>
              <a:rect l="l" t="t" r="r" b="b"/>
              <a:pathLst>
                <a:path w="192191" h="192191">
                  <a:moveTo>
                    <a:pt x="96096" y="0"/>
                  </a:moveTo>
                  <a:lnTo>
                    <a:pt x="96096" y="0"/>
                  </a:lnTo>
                  <a:cubicBezTo>
                    <a:pt x="121582" y="0"/>
                    <a:pt x="146024" y="10124"/>
                    <a:pt x="164045" y="28146"/>
                  </a:cubicBezTo>
                  <a:cubicBezTo>
                    <a:pt x="182067" y="46167"/>
                    <a:pt x="192191" y="70609"/>
                    <a:pt x="192191" y="96096"/>
                  </a:cubicBezTo>
                  <a:lnTo>
                    <a:pt x="192191" y="96096"/>
                  </a:lnTo>
                  <a:cubicBezTo>
                    <a:pt x="192191" y="121582"/>
                    <a:pt x="182067" y="146024"/>
                    <a:pt x="164045" y="164045"/>
                  </a:cubicBezTo>
                  <a:cubicBezTo>
                    <a:pt x="146024" y="182067"/>
                    <a:pt x="121582" y="192191"/>
                    <a:pt x="96096" y="192191"/>
                  </a:cubicBezTo>
                  <a:lnTo>
                    <a:pt x="96096" y="192191"/>
                  </a:lnTo>
                  <a:cubicBezTo>
                    <a:pt x="70609" y="192191"/>
                    <a:pt x="46167" y="182067"/>
                    <a:pt x="28146" y="164045"/>
                  </a:cubicBezTo>
                  <a:cubicBezTo>
                    <a:pt x="10124" y="146024"/>
                    <a:pt x="0" y="121582"/>
                    <a:pt x="0" y="96096"/>
                  </a:cubicBezTo>
                  <a:lnTo>
                    <a:pt x="0" y="96096"/>
                  </a:lnTo>
                  <a:cubicBezTo>
                    <a:pt x="0" y="70609"/>
                    <a:pt x="10124" y="46167"/>
                    <a:pt x="28146" y="28146"/>
                  </a:cubicBezTo>
                  <a:cubicBezTo>
                    <a:pt x="46167" y="10124"/>
                    <a:pt x="70609" y="0"/>
                    <a:pt x="96096" y="0"/>
                  </a:cubicBezTo>
                  <a:close/>
                </a:path>
              </a:pathLst>
            </a:custGeom>
            <a:solidFill>
              <a:srgbClr val="7B29E8"/>
            </a:solidFill>
          </p:spPr>
        </p:sp>
        <p:sp>
          <p:nvSpPr>
            <p:cNvPr id="53" name="TextBox 53"/>
            <p:cNvSpPr txBox="1"/>
            <p:nvPr/>
          </p:nvSpPr>
          <p:spPr>
            <a:xfrm>
              <a:off x="0" y="-66675"/>
              <a:ext cx="192191" cy="258866"/>
            </a:xfrm>
            <a:prstGeom prst="rect">
              <a:avLst/>
            </a:prstGeom>
          </p:spPr>
          <p:txBody>
            <a:bodyPr lIns="50800" tIns="50800" rIns="50800" bIns="50800" rtlCol="0" anchor="ctr"/>
            <a:lstStyle/>
            <a:p>
              <a:pPr algn="ctr">
                <a:lnSpc>
                  <a:spcPts val="3079"/>
                </a:lnSpc>
              </a:pPr>
              <a:endParaRPr/>
            </a:p>
          </p:txBody>
        </p:sp>
      </p:grpSp>
      <p:sp>
        <p:nvSpPr>
          <p:cNvPr id="54" name="TextBox 54"/>
          <p:cNvSpPr txBox="1"/>
          <p:nvPr/>
        </p:nvSpPr>
        <p:spPr>
          <a:xfrm>
            <a:off x="6610219" y="9040477"/>
            <a:ext cx="3572166" cy="378496"/>
          </a:xfrm>
          <a:prstGeom prst="rect">
            <a:avLst/>
          </a:prstGeom>
        </p:spPr>
        <p:txBody>
          <a:bodyPr lIns="0" tIns="0" rIns="0" bIns="0" rtlCol="0" anchor="t">
            <a:spAutoFit/>
          </a:bodyPr>
          <a:lstStyle/>
          <a:p>
            <a:pPr algn="l">
              <a:lnSpc>
                <a:spcPts val="2969"/>
              </a:lnSpc>
            </a:pPr>
            <a:r>
              <a:rPr lang="en-US" sz="2121">
                <a:solidFill>
                  <a:srgbClr val="0D0D0D"/>
                </a:solidFill>
                <a:latin typeface="Poppins"/>
                <a:ea typeface="Poppins"/>
                <a:cs typeface="Poppins"/>
                <a:sym typeface="Poppins"/>
              </a:rPr>
              <a:t>What’s next for vocalyst?</a:t>
            </a:r>
          </a:p>
        </p:txBody>
      </p:sp>
      <p:sp>
        <p:nvSpPr>
          <p:cNvPr id="55" name="TextBox 55"/>
          <p:cNvSpPr txBox="1"/>
          <p:nvPr/>
        </p:nvSpPr>
        <p:spPr>
          <a:xfrm>
            <a:off x="5747159" y="8994071"/>
            <a:ext cx="188890" cy="461783"/>
          </a:xfrm>
          <a:prstGeom prst="rect">
            <a:avLst/>
          </a:prstGeom>
        </p:spPr>
        <p:txBody>
          <a:bodyPr lIns="0" tIns="0" rIns="0" bIns="0" rtlCol="0" anchor="t">
            <a:spAutoFit/>
          </a:bodyPr>
          <a:lstStyle/>
          <a:p>
            <a:pPr algn="ctr">
              <a:lnSpc>
                <a:spcPts val="3676"/>
              </a:lnSpc>
            </a:pPr>
            <a:r>
              <a:rPr lang="en-US" sz="2626" b="1">
                <a:solidFill>
                  <a:srgbClr val="FFFFFF"/>
                </a:solidFill>
                <a:latin typeface="Poppins Bold"/>
                <a:ea typeface="Poppins Bold"/>
                <a:cs typeface="Poppins Bold"/>
                <a:sym typeface="Poppins Bold"/>
              </a:rPr>
              <a:t>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790933" y="3431384"/>
            <a:ext cx="442011" cy="612840"/>
          </a:xfrm>
          <a:custGeom>
            <a:avLst/>
            <a:gdLst/>
            <a:ahLst/>
            <a:cxnLst/>
            <a:rect l="l" t="t" r="r" b="b"/>
            <a:pathLst>
              <a:path w="442011" h="612840">
                <a:moveTo>
                  <a:pt x="0" y="0"/>
                </a:moveTo>
                <a:lnTo>
                  <a:pt x="442011" y="0"/>
                </a:lnTo>
                <a:lnTo>
                  <a:pt x="442011" y="612840"/>
                </a:lnTo>
                <a:lnTo>
                  <a:pt x="0" y="6128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686078" y="-1265505"/>
            <a:ext cx="3471862" cy="4114800"/>
          </a:xfrm>
          <a:custGeom>
            <a:avLst/>
            <a:gdLst/>
            <a:ahLst/>
            <a:cxnLst/>
            <a:rect l="l" t="t" r="r" b="b"/>
            <a:pathLst>
              <a:path w="3471862" h="4114800">
                <a:moveTo>
                  <a:pt x="0" y="0"/>
                </a:moveTo>
                <a:lnTo>
                  <a:pt x="3471862" y="0"/>
                </a:lnTo>
                <a:lnTo>
                  <a:pt x="347186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AutoShape 4"/>
          <p:cNvSpPr/>
          <p:nvPr/>
        </p:nvSpPr>
        <p:spPr>
          <a:xfrm>
            <a:off x="6262858" y="1102042"/>
            <a:ext cx="9031836" cy="0"/>
          </a:xfrm>
          <a:prstGeom prst="line">
            <a:avLst/>
          </a:prstGeom>
          <a:ln w="28575" cap="flat">
            <a:solidFill>
              <a:srgbClr val="0D0D0D"/>
            </a:solidFill>
            <a:prstDash val="solid"/>
            <a:headEnd type="none" w="sm" len="sm"/>
            <a:tailEnd type="none" w="sm" len="sm"/>
          </a:ln>
        </p:spPr>
      </p:sp>
      <p:sp>
        <p:nvSpPr>
          <p:cNvPr id="5" name="Freeform 5"/>
          <p:cNvSpPr/>
          <p:nvPr/>
        </p:nvSpPr>
        <p:spPr>
          <a:xfrm>
            <a:off x="1673683" y="885209"/>
            <a:ext cx="419030" cy="433666"/>
          </a:xfrm>
          <a:custGeom>
            <a:avLst/>
            <a:gdLst/>
            <a:ahLst/>
            <a:cxnLst/>
            <a:rect l="l" t="t" r="r" b="b"/>
            <a:pathLst>
              <a:path w="419030" h="433666">
                <a:moveTo>
                  <a:pt x="0" y="0"/>
                </a:moveTo>
                <a:lnTo>
                  <a:pt x="419030" y="0"/>
                </a:lnTo>
                <a:lnTo>
                  <a:pt x="419030" y="433667"/>
                </a:lnTo>
                <a:lnTo>
                  <a:pt x="0" y="43366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242186" y="2162072"/>
            <a:ext cx="8094348" cy="6924928"/>
          </a:xfrm>
          <a:custGeom>
            <a:avLst/>
            <a:gdLst/>
            <a:ahLst/>
            <a:cxnLst/>
            <a:rect l="l" t="t" r="r" b="b"/>
            <a:pathLst>
              <a:path w="8094348" h="6924928">
                <a:moveTo>
                  <a:pt x="0" y="0"/>
                </a:moveTo>
                <a:lnTo>
                  <a:pt x="8094348" y="0"/>
                </a:lnTo>
                <a:lnTo>
                  <a:pt x="8094348" y="6924928"/>
                </a:lnTo>
                <a:lnTo>
                  <a:pt x="0" y="6924928"/>
                </a:lnTo>
                <a:lnTo>
                  <a:pt x="0" y="0"/>
                </a:lnTo>
                <a:close/>
              </a:path>
            </a:pathLst>
          </a:custGeom>
          <a:blipFill>
            <a:blip r:embed="rId8"/>
            <a:stretch>
              <a:fillRect t="-8443" b="-8443"/>
            </a:stretch>
          </a:blipFill>
        </p:spPr>
      </p:sp>
      <p:sp>
        <p:nvSpPr>
          <p:cNvPr id="7" name="TextBox 7"/>
          <p:cNvSpPr txBox="1"/>
          <p:nvPr/>
        </p:nvSpPr>
        <p:spPr>
          <a:xfrm>
            <a:off x="10378063" y="3247299"/>
            <a:ext cx="6140702" cy="2738755"/>
          </a:xfrm>
          <a:prstGeom prst="rect">
            <a:avLst/>
          </a:prstGeom>
        </p:spPr>
        <p:txBody>
          <a:bodyPr lIns="0" tIns="0" rIns="0" bIns="0" rtlCol="0" anchor="t">
            <a:spAutoFit/>
          </a:bodyPr>
          <a:lstStyle/>
          <a:p>
            <a:pPr algn="l">
              <a:lnSpc>
                <a:spcPts val="7040"/>
              </a:lnSpc>
            </a:pPr>
            <a:r>
              <a:rPr lang="en-US" sz="6400" b="1">
                <a:solidFill>
                  <a:srgbClr val="000000"/>
                </a:solidFill>
                <a:latin typeface="Poppins Semi-Bold"/>
                <a:ea typeface="Poppins Semi-Bold"/>
                <a:cs typeface="Poppins Semi-Bold"/>
                <a:sym typeface="Poppins Semi-Bold"/>
              </a:rPr>
              <a:t>Meet Ananya, the Aspiring Founder</a:t>
            </a:r>
          </a:p>
        </p:txBody>
      </p:sp>
      <p:sp>
        <p:nvSpPr>
          <p:cNvPr id="8" name="TextBox 8"/>
          <p:cNvSpPr txBox="1"/>
          <p:nvPr/>
        </p:nvSpPr>
        <p:spPr>
          <a:xfrm>
            <a:off x="2276489" y="876300"/>
            <a:ext cx="2066911" cy="383182"/>
          </a:xfrm>
          <a:prstGeom prst="rect">
            <a:avLst/>
          </a:prstGeom>
        </p:spPr>
        <p:txBody>
          <a:bodyPr wrap="square" lIns="0" tIns="0" rIns="0" bIns="0" rtlCol="0" anchor="t">
            <a:spAutoFit/>
          </a:bodyPr>
          <a:lstStyle/>
          <a:p>
            <a:pPr algn="l">
              <a:lnSpc>
                <a:spcPts val="3079"/>
              </a:lnSpc>
              <a:spcBef>
                <a:spcPct val="0"/>
              </a:spcBef>
            </a:pPr>
            <a:r>
              <a:rPr lang="en-IN" sz="2400" b="0" i="0" dirty="0" err="1">
                <a:solidFill>
                  <a:srgbClr val="1F1F1F"/>
                </a:solidFill>
                <a:effectLst/>
                <a:latin typeface="Google Sans"/>
              </a:rPr>
              <a:t>IntelliHack</a:t>
            </a:r>
            <a:r>
              <a:rPr lang="en-IN" sz="2400" b="0" i="0" dirty="0">
                <a:solidFill>
                  <a:srgbClr val="1F1F1F"/>
                </a:solidFill>
                <a:effectLst/>
                <a:latin typeface="Google Sans"/>
              </a:rPr>
              <a:t> SRM</a:t>
            </a:r>
            <a:endParaRPr lang="en-US" sz="2199" dirty="0">
              <a:solidFill>
                <a:srgbClr val="0D0D0D"/>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45574" y="1594332"/>
            <a:ext cx="2376130" cy="2376130"/>
          </a:xfrm>
          <a:custGeom>
            <a:avLst/>
            <a:gdLst/>
            <a:ahLst/>
            <a:cxnLst/>
            <a:rect l="l" t="t" r="r" b="b"/>
            <a:pathLst>
              <a:path w="2376130" h="2376130">
                <a:moveTo>
                  <a:pt x="0" y="0"/>
                </a:moveTo>
                <a:lnTo>
                  <a:pt x="2376131" y="0"/>
                </a:lnTo>
                <a:lnTo>
                  <a:pt x="2376131" y="2376130"/>
                </a:lnTo>
                <a:lnTo>
                  <a:pt x="0" y="2376130"/>
                </a:lnTo>
                <a:lnTo>
                  <a:pt x="0" y="0"/>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718934" y="5939989"/>
            <a:ext cx="5203119" cy="4114800"/>
          </a:xfrm>
          <a:custGeom>
            <a:avLst/>
            <a:gdLst/>
            <a:ahLst/>
            <a:cxnLst/>
            <a:rect l="l" t="t" r="r" b="b"/>
            <a:pathLst>
              <a:path w="5203119" h="4114800">
                <a:moveTo>
                  <a:pt x="0" y="0"/>
                </a:moveTo>
                <a:lnTo>
                  <a:pt x="5203119" y="0"/>
                </a:lnTo>
                <a:lnTo>
                  <a:pt x="5203119" y="4114800"/>
                </a:lnTo>
                <a:lnTo>
                  <a:pt x="0" y="4114800"/>
                </a:lnTo>
                <a:lnTo>
                  <a:pt x="0" y="0"/>
                </a:lnTo>
                <a:close/>
              </a:path>
            </a:pathLst>
          </a:custGeom>
          <a:blipFill>
            <a:blip r:embed="rId4">
              <a:alphaModFix amt="19999"/>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673683" y="2335294"/>
            <a:ext cx="5245204" cy="6732506"/>
            <a:chOff x="0" y="0"/>
            <a:chExt cx="812619" cy="1043041"/>
          </a:xfrm>
        </p:grpSpPr>
        <p:sp>
          <p:nvSpPr>
            <p:cNvPr id="5" name="Freeform 5"/>
            <p:cNvSpPr/>
            <p:nvPr/>
          </p:nvSpPr>
          <p:spPr>
            <a:xfrm>
              <a:off x="0" y="0"/>
              <a:ext cx="812619" cy="1043041"/>
            </a:xfrm>
            <a:custGeom>
              <a:avLst/>
              <a:gdLst/>
              <a:ahLst/>
              <a:cxnLst/>
              <a:rect l="l" t="t" r="r" b="b"/>
              <a:pathLst>
                <a:path w="812619" h="1043041">
                  <a:moveTo>
                    <a:pt x="0" y="0"/>
                  </a:moveTo>
                  <a:lnTo>
                    <a:pt x="812619" y="0"/>
                  </a:lnTo>
                  <a:lnTo>
                    <a:pt x="812619" y="1043041"/>
                  </a:lnTo>
                  <a:lnTo>
                    <a:pt x="0" y="1043041"/>
                  </a:lnTo>
                  <a:close/>
                </a:path>
              </a:pathLst>
            </a:custGeom>
            <a:blipFill>
              <a:blip r:embed="rId6"/>
              <a:stretch>
                <a:fillRect l="-46326" r="-46326"/>
              </a:stretch>
            </a:blipFill>
          </p:spPr>
        </p:sp>
      </p:grpSp>
      <p:sp>
        <p:nvSpPr>
          <p:cNvPr id="6" name="Freeform 6"/>
          <p:cNvSpPr/>
          <p:nvPr/>
        </p:nvSpPr>
        <p:spPr>
          <a:xfrm>
            <a:off x="6323935" y="2150506"/>
            <a:ext cx="442011" cy="612840"/>
          </a:xfrm>
          <a:custGeom>
            <a:avLst/>
            <a:gdLst/>
            <a:ahLst/>
            <a:cxnLst/>
            <a:rect l="l" t="t" r="r" b="b"/>
            <a:pathLst>
              <a:path w="442011" h="612840">
                <a:moveTo>
                  <a:pt x="0" y="0"/>
                </a:moveTo>
                <a:lnTo>
                  <a:pt x="442012" y="0"/>
                </a:lnTo>
                <a:lnTo>
                  <a:pt x="442012" y="612841"/>
                </a:lnTo>
                <a:lnTo>
                  <a:pt x="0" y="61284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16686078" y="-1265505"/>
            <a:ext cx="3471862" cy="4114800"/>
          </a:xfrm>
          <a:custGeom>
            <a:avLst/>
            <a:gdLst/>
            <a:ahLst/>
            <a:cxnLst/>
            <a:rect l="l" t="t" r="r" b="b"/>
            <a:pathLst>
              <a:path w="3471862" h="4114800">
                <a:moveTo>
                  <a:pt x="0" y="0"/>
                </a:moveTo>
                <a:lnTo>
                  <a:pt x="3471862" y="0"/>
                </a:lnTo>
                <a:lnTo>
                  <a:pt x="3471862"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AutoShape 8"/>
          <p:cNvSpPr/>
          <p:nvPr/>
        </p:nvSpPr>
        <p:spPr>
          <a:xfrm>
            <a:off x="6262858" y="1102042"/>
            <a:ext cx="9031836" cy="0"/>
          </a:xfrm>
          <a:prstGeom prst="line">
            <a:avLst/>
          </a:prstGeom>
          <a:ln w="28575" cap="flat">
            <a:solidFill>
              <a:srgbClr val="0D0D0D"/>
            </a:solidFill>
            <a:prstDash val="solid"/>
            <a:headEnd type="none" w="sm" len="sm"/>
            <a:tailEnd type="none" w="sm" len="sm"/>
          </a:ln>
        </p:spPr>
      </p:sp>
      <p:sp>
        <p:nvSpPr>
          <p:cNvPr id="9" name="Freeform 9"/>
          <p:cNvSpPr/>
          <p:nvPr/>
        </p:nvSpPr>
        <p:spPr>
          <a:xfrm>
            <a:off x="1673683" y="885209"/>
            <a:ext cx="419030" cy="433666"/>
          </a:xfrm>
          <a:custGeom>
            <a:avLst/>
            <a:gdLst/>
            <a:ahLst/>
            <a:cxnLst/>
            <a:rect l="l" t="t" r="r" b="b"/>
            <a:pathLst>
              <a:path w="419030" h="433666">
                <a:moveTo>
                  <a:pt x="0" y="0"/>
                </a:moveTo>
                <a:lnTo>
                  <a:pt x="419030" y="0"/>
                </a:lnTo>
                <a:lnTo>
                  <a:pt x="419030" y="433667"/>
                </a:lnTo>
                <a:lnTo>
                  <a:pt x="0" y="43366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0" name="TextBox 10"/>
          <p:cNvSpPr txBox="1"/>
          <p:nvPr/>
        </p:nvSpPr>
        <p:spPr>
          <a:xfrm>
            <a:off x="7602292" y="2335294"/>
            <a:ext cx="4787155" cy="1091565"/>
          </a:xfrm>
          <a:prstGeom prst="rect">
            <a:avLst/>
          </a:prstGeom>
        </p:spPr>
        <p:txBody>
          <a:bodyPr lIns="0" tIns="0" rIns="0" bIns="0" rtlCol="0" anchor="t">
            <a:spAutoFit/>
          </a:bodyPr>
          <a:lstStyle/>
          <a:p>
            <a:pPr algn="l">
              <a:lnSpc>
                <a:spcPts val="7920"/>
              </a:lnSpc>
            </a:pPr>
            <a:r>
              <a:rPr lang="en-US" sz="7200" b="1">
                <a:solidFill>
                  <a:srgbClr val="000000"/>
                </a:solidFill>
                <a:latin typeface="Poppins Semi-Bold"/>
                <a:ea typeface="Poppins Semi-Bold"/>
                <a:cs typeface="Poppins Semi-Bold"/>
                <a:sym typeface="Poppins Semi-Bold"/>
              </a:rPr>
              <a:t>Problem</a:t>
            </a:r>
          </a:p>
        </p:txBody>
      </p:sp>
      <p:sp>
        <p:nvSpPr>
          <p:cNvPr id="11" name="TextBox 11"/>
          <p:cNvSpPr txBox="1"/>
          <p:nvPr/>
        </p:nvSpPr>
        <p:spPr>
          <a:xfrm>
            <a:off x="7602292" y="3717172"/>
            <a:ext cx="10463811" cy="4078605"/>
          </a:xfrm>
          <a:prstGeom prst="rect">
            <a:avLst/>
          </a:prstGeom>
        </p:spPr>
        <p:txBody>
          <a:bodyPr lIns="0" tIns="0" rIns="0" bIns="0" rtlCol="0" anchor="t">
            <a:spAutoFit/>
          </a:bodyPr>
          <a:lstStyle/>
          <a:p>
            <a:pPr algn="l">
              <a:lnSpc>
                <a:spcPts val="3255"/>
              </a:lnSpc>
            </a:pPr>
            <a:r>
              <a:rPr lang="en-US" sz="2100" spc="12" dirty="0">
                <a:solidFill>
                  <a:srgbClr val="000000"/>
                </a:solidFill>
                <a:latin typeface="DM Sans"/>
                <a:ea typeface="DM Sans"/>
                <a:cs typeface="DM Sans"/>
                <a:sym typeface="DM Sans"/>
              </a:rPr>
              <a:t>The Bigger Problem</a:t>
            </a:r>
          </a:p>
          <a:p>
            <a:pPr marL="453390" lvl="1" indent="-226695" algn="l">
              <a:lnSpc>
                <a:spcPts val="3255"/>
              </a:lnSpc>
              <a:buFont typeface="Arial"/>
              <a:buChar char="•"/>
            </a:pPr>
            <a:r>
              <a:rPr lang="en-US" sz="2100" spc="12" dirty="0">
                <a:solidFill>
                  <a:srgbClr val="000000"/>
                </a:solidFill>
                <a:latin typeface="DM Sans"/>
                <a:ea typeface="DM Sans"/>
                <a:cs typeface="DM Sans"/>
                <a:sym typeface="DM Sans"/>
              </a:rPr>
              <a:t>🎤 Communication isn’t just words — it’s tone, emotion, pacing, expressions, and structure.</a:t>
            </a:r>
          </a:p>
          <a:p>
            <a:pPr marL="453390" lvl="1" indent="-226695" algn="l">
              <a:lnSpc>
                <a:spcPts val="3255"/>
              </a:lnSpc>
              <a:buFont typeface="Arial"/>
              <a:buChar char="•"/>
            </a:pPr>
            <a:r>
              <a:rPr lang="en-US" sz="2100" spc="12" dirty="0">
                <a:solidFill>
                  <a:srgbClr val="000000"/>
                </a:solidFill>
                <a:latin typeface="DM Sans"/>
                <a:ea typeface="DM Sans"/>
                <a:cs typeface="DM Sans"/>
                <a:sym typeface="DM Sans"/>
              </a:rPr>
              <a:t>❌ Existing tools (like ChatGPT or YouTube tutorials) focus on text only, ignoring how you sound or look.</a:t>
            </a:r>
          </a:p>
          <a:p>
            <a:pPr marL="453390" lvl="1" indent="-226695" algn="l">
              <a:lnSpc>
                <a:spcPts val="3255"/>
              </a:lnSpc>
              <a:buFont typeface="Arial"/>
              <a:buChar char="•"/>
            </a:pPr>
            <a:r>
              <a:rPr lang="en-US" sz="2100" spc="12" dirty="0">
                <a:solidFill>
                  <a:srgbClr val="000000"/>
                </a:solidFill>
                <a:latin typeface="DM Sans"/>
                <a:ea typeface="DM Sans"/>
                <a:cs typeface="DM Sans"/>
                <a:sym typeface="DM Sans"/>
              </a:rPr>
              <a:t>🧩 Users have to juggle multiple tools to get partial feedback: a voice recorder, grammar checker, AI chatbot... it's frustrating.</a:t>
            </a:r>
          </a:p>
          <a:p>
            <a:pPr marL="453390" lvl="1" indent="-226695" algn="l">
              <a:lnSpc>
                <a:spcPts val="3255"/>
              </a:lnSpc>
              <a:buFont typeface="Arial"/>
              <a:buChar char="•"/>
            </a:pPr>
            <a:r>
              <a:rPr lang="en-US" sz="2100" spc="12" dirty="0">
                <a:solidFill>
                  <a:srgbClr val="000000"/>
                </a:solidFill>
                <a:latin typeface="DM Sans"/>
                <a:ea typeface="DM Sans"/>
                <a:cs typeface="DM Sans"/>
                <a:sym typeface="DM Sans"/>
              </a:rPr>
              <a:t>💬 There is no unified solution that gives real-time, multimodal feedback (voice + face + text).</a:t>
            </a:r>
          </a:p>
          <a:p>
            <a:pPr algn="l">
              <a:lnSpc>
                <a:spcPts val="3255"/>
              </a:lnSpc>
            </a:pPr>
            <a:endParaRPr lang="en-US" sz="2100" spc="12" dirty="0">
              <a:solidFill>
                <a:srgbClr val="000000"/>
              </a:solidFill>
              <a:latin typeface="DM Sans"/>
              <a:ea typeface="DM Sans"/>
              <a:cs typeface="DM Sans"/>
              <a:sym typeface="DM Sans"/>
            </a:endParaRPr>
          </a:p>
        </p:txBody>
      </p:sp>
      <p:sp>
        <p:nvSpPr>
          <p:cNvPr id="12" name="TextBox 12"/>
          <p:cNvSpPr txBox="1"/>
          <p:nvPr/>
        </p:nvSpPr>
        <p:spPr>
          <a:xfrm>
            <a:off x="2276489" y="876300"/>
            <a:ext cx="2295511" cy="383182"/>
          </a:xfrm>
          <a:prstGeom prst="rect">
            <a:avLst/>
          </a:prstGeom>
        </p:spPr>
        <p:txBody>
          <a:bodyPr wrap="square" lIns="0" tIns="0" rIns="0" bIns="0" rtlCol="0" anchor="t">
            <a:spAutoFit/>
          </a:bodyPr>
          <a:lstStyle/>
          <a:p>
            <a:pPr algn="l">
              <a:lnSpc>
                <a:spcPts val="3079"/>
              </a:lnSpc>
              <a:spcBef>
                <a:spcPct val="0"/>
              </a:spcBef>
            </a:pPr>
            <a:r>
              <a:rPr lang="en-IN" sz="2400" b="0" i="0" dirty="0" err="1">
                <a:solidFill>
                  <a:srgbClr val="1F1F1F"/>
                </a:solidFill>
                <a:effectLst/>
                <a:latin typeface="Google Sans"/>
              </a:rPr>
              <a:t>IntelliHack</a:t>
            </a:r>
            <a:r>
              <a:rPr lang="en-IN" sz="2400" b="0" i="0" dirty="0">
                <a:solidFill>
                  <a:srgbClr val="1F1F1F"/>
                </a:solidFill>
                <a:effectLst/>
                <a:latin typeface="Google Sans"/>
              </a:rPr>
              <a:t> SRM</a:t>
            </a:r>
            <a:endParaRPr lang="en-US" sz="2199" dirty="0">
              <a:solidFill>
                <a:srgbClr val="0D0D0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083449"/>
            <a:ext cx="442011" cy="612840"/>
          </a:xfrm>
          <a:custGeom>
            <a:avLst/>
            <a:gdLst/>
            <a:ahLst/>
            <a:cxnLst/>
            <a:rect l="l" t="t" r="r" b="b"/>
            <a:pathLst>
              <a:path w="442011" h="612840">
                <a:moveTo>
                  <a:pt x="0" y="0"/>
                </a:moveTo>
                <a:lnTo>
                  <a:pt x="442011" y="0"/>
                </a:lnTo>
                <a:lnTo>
                  <a:pt x="442011" y="612840"/>
                </a:lnTo>
                <a:lnTo>
                  <a:pt x="0" y="6128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686078" y="-1265505"/>
            <a:ext cx="3471862" cy="4114800"/>
          </a:xfrm>
          <a:custGeom>
            <a:avLst/>
            <a:gdLst/>
            <a:ahLst/>
            <a:cxnLst/>
            <a:rect l="l" t="t" r="r" b="b"/>
            <a:pathLst>
              <a:path w="3471862" h="4114800">
                <a:moveTo>
                  <a:pt x="0" y="0"/>
                </a:moveTo>
                <a:lnTo>
                  <a:pt x="3471862" y="0"/>
                </a:lnTo>
                <a:lnTo>
                  <a:pt x="347186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AutoShape 4"/>
          <p:cNvSpPr/>
          <p:nvPr/>
        </p:nvSpPr>
        <p:spPr>
          <a:xfrm>
            <a:off x="6262858" y="1102042"/>
            <a:ext cx="9031836" cy="0"/>
          </a:xfrm>
          <a:prstGeom prst="line">
            <a:avLst/>
          </a:prstGeom>
          <a:ln w="28575" cap="flat">
            <a:solidFill>
              <a:srgbClr val="0D0D0D"/>
            </a:solidFill>
            <a:prstDash val="solid"/>
            <a:headEnd type="none" w="sm" len="sm"/>
            <a:tailEnd type="none" w="sm" len="sm"/>
          </a:ln>
        </p:spPr>
      </p:sp>
      <p:sp>
        <p:nvSpPr>
          <p:cNvPr id="5" name="Freeform 5"/>
          <p:cNvSpPr/>
          <p:nvPr/>
        </p:nvSpPr>
        <p:spPr>
          <a:xfrm>
            <a:off x="1673683" y="885209"/>
            <a:ext cx="419030" cy="433666"/>
          </a:xfrm>
          <a:custGeom>
            <a:avLst/>
            <a:gdLst/>
            <a:ahLst/>
            <a:cxnLst/>
            <a:rect l="l" t="t" r="r" b="b"/>
            <a:pathLst>
              <a:path w="419030" h="433666">
                <a:moveTo>
                  <a:pt x="0" y="0"/>
                </a:moveTo>
                <a:lnTo>
                  <a:pt x="419030" y="0"/>
                </a:lnTo>
                <a:lnTo>
                  <a:pt x="419030" y="433667"/>
                </a:lnTo>
                <a:lnTo>
                  <a:pt x="0" y="43366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1673683" y="2150506"/>
            <a:ext cx="10414664" cy="1091565"/>
          </a:xfrm>
          <a:prstGeom prst="rect">
            <a:avLst/>
          </a:prstGeom>
        </p:spPr>
        <p:txBody>
          <a:bodyPr lIns="0" tIns="0" rIns="0" bIns="0" rtlCol="0" anchor="t">
            <a:spAutoFit/>
          </a:bodyPr>
          <a:lstStyle/>
          <a:p>
            <a:pPr algn="l">
              <a:lnSpc>
                <a:spcPts val="7920"/>
              </a:lnSpc>
            </a:pPr>
            <a:r>
              <a:rPr lang="en-US" sz="7200" b="1" dirty="0">
                <a:solidFill>
                  <a:srgbClr val="000000"/>
                </a:solidFill>
                <a:latin typeface="Poppins Semi-Bold"/>
                <a:ea typeface="Poppins Semi-Bold"/>
                <a:cs typeface="Poppins Semi-Bold"/>
                <a:sym typeface="Poppins Semi-Bold"/>
              </a:rPr>
              <a:t>What is </a:t>
            </a:r>
            <a:r>
              <a:rPr lang="en-US" sz="7200" b="1" dirty="0" err="1">
                <a:solidFill>
                  <a:srgbClr val="000000"/>
                </a:solidFill>
                <a:latin typeface="Poppins Semi-Bold"/>
                <a:ea typeface="Poppins Semi-Bold"/>
                <a:cs typeface="Poppins Semi-Bold"/>
                <a:sym typeface="Poppins Semi-Bold"/>
              </a:rPr>
              <a:t>Voclayst</a:t>
            </a:r>
            <a:r>
              <a:rPr lang="en-US" sz="7200" b="1" dirty="0">
                <a:solidFill>
                  <a:srgbClr val="000000"/>
                </a:solidFill>
                <a:latin typeface="Poppins Semi-Bold"/>
                <a:ea typeface="Poppins Semi-Bold"/>
                <a:cs typeface="Poppins Semi-Bold"/>
                <a:sym typeface="Poppins Semi-Bold"/>
              </a:rPr>
              <a:t>?</a:t>
            </a:r>
          </a:p>
        </p:txBody>
      </p:sp>
      <p:sp>
        <p:nvSpPr>
          <p:cNvPr id="7" name="TextBox 7"/>
          <p:cNvSpPr txBox="1"/>
          <p:nvPr/>
        </p:nvSpPr>
        <p:spPr>
          <a:xfrm>
            <a:off x="2276489" y="876300"/>
            <a:ext cx="2040602" cy="383182"/>
          </a:xfrm>
          <a:prstGeom prst="rect">
            <a:avLst/>
          </a:prstGeom>
        </p:spPr>
        <p:txBody>
          <a:bodyPr wrap="square" lIns="0" tIns="0" rIns="0" bIns="0" rtlCol="0" anchor="t">
            <a:spAutoFit/>
          </a:bodyPr>
          <a:lstStyle/>
          <a:p>
            <a:pPr algn="l">
              <a:lnSpc>
                <a:spcPts val="3079"/>
              </a:lnSpc>
              <a:spcBef>
                <a:spcPct val="0"/>
              </a:spcBef>
            </a:pPr>
            <a:r>
              <a:rPr lang="en-IN" sz="2400" b="0" i="0" dirty="0" err="1">
                <a:solidFill>
                  <a:srgbClr val="1F1F1F"/>
                </a:solidFill>
                <a:effectLst/>
                <a:latin typeface="Google Sans"/>
              </a:rPr>
              <a:t>IntelliHack</a:t>
            </a:r>
            <a:r>
              <a:rPr lang="en-IN" sz="2400" b="0" i="0" dirty="0">
                <a:solidFill>
                  <a:srgbClr val="1F1F1F"/>
                </a:solidFill>
                <a:effectLst/>
                <a:latin typeface="Google Sans"/>
              </a:rPr>
              <a:t> SRM</a:t>
            </a:r>
            <a:endParaRPr lang="en-US" sz="2199" dirty="0">
              <a:solidFill>
                <a:srgbClr val="0D0D0D"/>
              </a:solidFill>
              <a:latin typeface="Poppins"/>
              <a:ea typeface="Poppins"/>
              <a:cs typeface="Poppins"/>
              <a:sym typeface="Poppins"/>
            </a:endParaRPr>
          </a:p>
        </p:txBody>
      </p:sp>
      <p:sp>
        <p:nvSpPr>
          <p:cNvPr id="8" name="TextBox 8"/>
          <p:cNvSpPr txBox="1"/>
          <p:nvPr/>
        </p:nvSpPr>
        <p:spPr>
          <a:xfrm>
            <a:off x="15959177" y="876300"/>
            <a:ext cx="726901" cy="391820"/>
          </a:xfrm>
          <a:prstGeom prst="rect">
            <a:avLst/>
          </a:prstGeom>
        </p:spPr>
        <p:txBody>
          <a:bodyPr lIns="0" tIns="0" rIns="0" bIns="0" rtlCol="0" anchor="t">
            <a:spAutoFit/>
          </a:bodyPr>
          <a:lstStyle/>
          <a:p>
            <a:pPr algn="l">
              <a:lnSpc>
                <a:spcPts val="3079"/>
              </a:lnSpc>
              <a:spcBef>
                <a:spcPct val="0"/>
              </a:spcBef>
            </a:pPr>
            <a:r>
              <a:rPr lang="en-US" sz="2199">
                <a:solidFill>
                  <a:srgbClr val="0D0D0D"/>
                </a:solidFill>
                <a:latin typeface="Poppins"/>
                <a:ea typeface="Poppins"/>
                <a:cs typeface="Poppins"/>
                <a:sym typeface="Poppins"/>
              </a:rPr>
              <a:t>03/13</a:t>
            </a:r>
          </a:p>
        </p:txBody>
      </p:sp>
      <p:sp>
        <p:nvSpPr>
          <p:cNvPr id="9" name="TextBox 9"/>
          <p:cNvSpPr txBox="1"/>
          <p:nvPr/>
        </p:nvSpPr>
        <p:spPr>
          <a:xfrm>
            <a:off x="1376873" y="4290534"/>
            <a:ext cx="13947318" cy="3663952"/>
          </a:xfrm>
          <a:prstGeom prst="rect">
            <a:avLst/>
          </a:prstGeom>
        </p:spPr>
        <p:txBody>
          <a:bodyPr wrap="square" lIns="0" tIns="0" rIns="0" bIns="0" rtlCol="0" anchor="t">
            <a:spAutoFit/>
          </a:bodyPr>
          <a:lstStyle/>
          <a:p>
            <a:pPr algn="l">
              <a:lnSpc>
                <a:spcPts val="3640"/>
              </a:lnSpc>
            </a:pPr>
            <a:r>
              <a:rPr lang="en-US" sz="2600" dirty="0" err="1">
                <a:solidFill>
                  <a:srgbClr val="000000"/>
                </a:solidFill>
                <a:latin typeface="Canva Sans"/>
                <a:ea typeface="Canva Sans"/>
                <a:cs typeface="Canva Sans"/>
                <a:sym typeface="Canva Sans"/>
              </a:rPr>
              <a:t>Voclayst</a:t>
            </a:r>
            <a:r>
              <a:rPr lang="en-US" sz="2600" dirty="0">
                <a:solidFill>
                  <a:srgbClr val="000000"/>
                </a:solidFill>
                <a:latin typeface="Canva Sans"/>
                <a:ea typeface="Canva Sans"/>
                <a:cs typeface="Canva Sans"/>
                <a:sym typeface="Canva Sans"/>
              </a:rPr>
              <a:t> is an AI-powered communication coaching platform designed to enhance public speaking and presentation skills through multimodal analysis. By capturing real-time video inputs, the platform evaluates a user's speech delivery, facial expressions, and content structure. Leveraging advanced computer vision, natural language processing, and audio signal processing, </a:t>
            </a:r>
            <a:r>
              <a:rPr lang="en-US" sz="2600" dirty="0" err="1">
                <a:solidFill>
                  <a:srgbClr val="000000"/>
                </a:solidFill>
                <a:latin typeface="Canva Sans"/>
                <a:ea typeface="Canva Sans"/>
                <a:cs typeface="Canva Sans"/>
                <a:sym typeface="Canva Sans"/>
              </a:rPr>
              <a:t>Voclayst</a:t>
            </a:r>
            <a:r>
              <a:rPr lang="en-US" sz="2600" dirty="0">
                <a:solidFill>
                  <a:srgbClr val="000000"/>
                </a:solidFill>
                <a:latin typeface="Canva Sans"/>
                <a:ea typeface="Canva Sans"/>
                <a:cs typeface="Canva Sans"/>
                <a:sym typeface="Canva Sans"/>
              </a:rPr>
              <a:t> generates personalized feedback across visual, verbal, and textual dimensions. This intelligent feedback loop empowers users to improve their fluency, confidence, and clarity, ultimately transforming them into more effective and engaging communicators.</a:t>
            </a:r>
          </a:p>
        </p:txBody>
      </p:sp>
      <p:sp>
        <p:nvSpPr>
          <p:cNvPr id="10" name="Freeform 10"/>
          <p:cNvSpPr/>
          <p:nvPr/>
        </p:nvSpPr>
        <p:spPr>
          <a:xfrm rot="-1472114">
            <a:off x="14461561" y="719152"/>
            <a:ext cx="3357642" cy="3424625"/>
          </a:xfrm>
          <a:custGeom>
            <a:avLst/>
            <a:gdLst/>
            <a:ahLst/>
            <a:cxnLst/>
            <a:rect l="l" t="t" r="r" b="b"/>
            <a:pathLst>
              <a:path w="4034341" h="4034341">
                <a:moveTo>
                  <a:pt x="0" y="0"/>
                </a:moveTo>
                <a:lnTo>
                  <a:pt x="4034341" y="0"/>
                </a:lnTo>
                <a:lnTo>
                  <a:pt x="4034341" y="4034341"/>
                </a:lnTo>
                <a:lnTo>
                  <a:pt x="0" y="4034341"/>
                </a:lnTo>
                <a:lnTo>
                  <a:pt x="0" y="0"/>
                </a:lnTo>
                <a:close/>
              </a:path>
            </a:pathLst>
          </a:custGeom>
          <a:blipFill>
            <a:blip r:embed="rId8"/>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9280097" y="5442380"/>
            <a:ext cx="1014170" cy="0"/>
          </a:xfrm>
          <a:prstGeom prst="line">
            <a:avLst/>
          </a:prstGeom>
          <a:ln w="57150" cap="flat">
            <a:solidFill>
              <a:srgbClr val="7B29E8"/>
            </a:solidFill>
            <a:prstDash val="solid"/>
            <a:headEnd type="none" w="sm" len="sm"/>
            <a:tailEnd type="none" w="sm" len="sm"/>
          </a:ln>
        </p:spPr>
      </p:sp>
      <p:sp>
        <p:nvSpPr>
          <p:cNvPr id="3" name="AutoShape 3"/>
          <p:cNvSpPr/>
          <p:nvPr/>
        </p:nvSpPr>
        <p:spPr>
          <a:xfrm>
            <a:off x="6262858" y="1102042"/>
            <a:ext cx="9031836" cy="0"/>
          </a:xfrm>
          <a:prstGeom prst="line">
            <a:avLst/>
          </a:prstGeom>
          <a:ln w="28575" cap="flat">
            <a:solidFill>
              <a:srgbClr val="0D0D0D"/>
            </a:solidFill>
            <a:prstDash val="solid"/>
            <a:headEnd type="none" w="sm" len="sm"/>
            <a:tailEnd type="none" w="sm" len="sm"/>
          </a:ln>
        </p:spPr>
      </p:sp>
      <p:sp>
        <p:nvSpPr>
          <p:cNvPr id="4" name="Freeform 4"/>
          <p:cNvSpPr/>
          <p:nvPr/>
        </p:nvSpPr>
        <p:spPr>
          <a:xfrm>
            <a:off x="1673683" y="885209"/>
            <a:ext cx="419030" cy="433666"/>
          </a:xfrm>
          <a:custGeom>
            <a:avLst/>
            <a:gdLst/>
            <a:ahLst/>
            <a:cxnLst/>
            <a:rect l="l" t="t" r="r" b="b"/>
            <a:pathLst>
              <a:path w="419030" h="433666">
                <a:moveTo>
                  <a:pt x="0" y="0"/>
                </a:moveTo>
                <a:lnTo>
                  <a:pt x="419030" y="0"/>
                </a:lnTo>
                <a:lnTo>
                  <a:pt x="419030" y="433667"/>
                </a:lnTo>
                <a:lnTo>
                  <a:pt x="0" y="4336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rot="1987530">
            <a:off x="16085888" y="831548"/>
            <a:ext cx="4099369" cy="4114800"/>
          </a:xfrm>
          <a:custGeom>
            <a:avLst/>
            <a:gdLst/>
            <a:ahLst/>
            <a:cxnLst/>
            <a:rect l="l" t="t" r="r" b="b"/>
            <a:pathLst>
              <a:path w="4099369" h="4114800">
                <a:moveTo>
                  <a:pt x="0" y="0"/>
                </a:moveTo>
                <a:lnTo>
                  <a:pt x="4099369" y="0"/>
                </a:lnTo>
                <a:lnTo>
                  <a:pt x="409936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568533" y="2063659"/>
            <a:ext cx="1333680" cy="1341953"/>
          </a:xfrm>
          <a:custGeom>
            <a:avLst/>
            <a:gdLst/>
            <a:ahLst/>
            <a:cxnLst/>
            <a:rect l="l" t="t" r="r" b="b"/>
            <a:pathLst>
              <a:path w="1333680" h="1341953">
                <a:moveTo>
                  <a:pt x="0" y="0"/>
                </a:moveTo>
                <a:lnTo>
                  <a:pt x="1333680" y="0"/>
                </a:lnTo>
                <a:lnTo>
                  <a:pt x="1333680" y="1341953"/>
                </a:lnTo>
                <a:lnTo>
                  <a:pt x="0" y="1341953"/>
                </a:lnTo>
                <a:lnTo>
                  <a:pt x="0" y="0"/>
                </a:lnTo>
                <a:close/>
              </a:path>
            </a:pathLst>
          </a:custGeom>
          <a:blipFill>
            <a:blip r:embed="rId6">
              <a:extLst>
                <a:ext uri="{96DAC541-7B7A-43D3-8B79-37D633B846F1}">
                  <asvg:svgBlip xmlns:asvg="http://schemas.microsoft.com/office/drawing/2016/SVG/main" r:embed="rId7"/>
                </a:ext>
              </a:extLst>
            </a:blip>
            <a:stretch>
              <a:fillRect l="-45226" t="-44330"/>
            </a:stretch>
          </a:blipFill>
        </p:spPr>
      </p:sp>
      <p:sp>
        <p:nvSpPr>
          <p:cNvPr id="7" name="Freeform 7"/>
          <p:cNvSpPr/>
          <p:nvPr/>
        </p:nvSpPr>
        <p:spPr>
          <a:xfrm>
            <a:off x="3401844" y="2888948"/>
            <a:ext cx="11014022" cy="7108702"/>
          </a:xfrm>
          <a:custGeom>
            <a:avLst/>
            <a:gdLst/>
            <a:ahLst/>
            <a:cxnLst/>
            <a:rect l="l" t="t" r="r" b="b"/>
            <a:pathLst>
              <a:path w="11014022" h="7108702">
                <a:moveTo>
                  <a:pt x="0" y="0"/>
                </a:moveTo>
                <a:lnTo>
                  <a:pt x="11014022" y="0"/>
                </a:lnTo>
                <a:lnTo>
                  <a:pt x="11014022" y="7108703"/>
                </a:lnTo>
                <a:lnTo>
                  <a:pt x="0" y="7108703"/>
                </a:lnTo>
                <a:lnTo>
                  <a:pt x="0" y="0"/>
                </a:lnTo>
                <a:close/>
              </a:path>
            </a:pathLst>
          </a:custGeom>
          <a:blipFill>
            <a:blip r:embed="rId8"/>
            <a:stretch>
              <a:fillRect t="-363" b="-2863"/>
            </a:stretch>
          </a:blipFill>
        </p:spPr>
      </p:sp>
      <p:sp>
        <p:nvSpPr>
          <p:cNvPr id="8" name="TextBox 8"/>
          <p:cNvSpPr txBox="1"/>
          <p:nvPr/>
        </p:nvSpPr>
        <p:spPr>
          <a:xfrm>
            <a:off x="2092713" y="1836118"/>
            <a:ext cx="10855287" cy="973455"/>
          </a:xfrm>
          <a:prstGeom prst="rect">
            <a:avLst/>
          </a:prstGeom>
        </p:spPr>
        <p:txBody>
          <a:bodyPr lIns="0" tIns="0" rIns="0" bIns="0" rtlCol="0" anchor="t">
            <a:spAutoFit/>
          </a:bodyPr>
          <a:lstStyle/>
          <a:p>
            <a:pPr algn="l">
              <a:lnSpc>
                <a:spcPts val="7245"/>
              </a:lnSpc>
            </a:pPr>
            <a:r>
              <a:rPr lang="en-US" sz="6300" b="1">
                <a:solidFill>
                  <a:srgbClr val="000000"/>
                </a:solidFill>
                <a:latin typeface="Poppins Bold"/>
                <a:ea typeface="Poppins Bold"/>
                <a:cs typeface="Poppins Bold"/>
                <a:sym typeface="Poppins Bold"/>
              </a:rPr>
              <a:t>How vocalyst works?</a:t>
            </a:r>
          </a:p>
        </p:txBody>
      </p:sp>
      <p:sp>
        <p:nvSpPr>
          <p:cNvPr id="9" name="TextBox 9"/>
          <p:cNvSpPr txBox="1"/>
          <p:nvPr/>
        </p:nvSpPr>
        <p:spPr>
          <a:xfrm>
            <a:off x="2276489" y="876300"/>
            <a:ext cx="1150977" cy="391795"/>
          </a:xfrm>
          <a:prstGeom prst="rect">
            <a:avLst/>
          </a:prstGeom>
        </p:spPr>
        <p:txBody>
          <a:bodyPr lIns="0" tIns="0" rIns="0" bIns="0" rtlCol="0" anchor="t">
            <a:spAutoFit/>
          </a:bodyPr>
          <a:lstStyle/>
          <a:p>
            <a:pPr algn="l">
              <a:lnSpc>
                <a:spcPts val="3079"/>
              </a:lnSpc>
              <a:spcBef>
                <a:spcPct val="0"/>
              </a:spcBef>
            </a:pPr>
            <a:endParaRPr lang="en-US" sz="2199" dirty="0">
              <a:solidFill>
                <a:srgbClr val="0D0D0D"/>
              </a:solidFill>
              <a:latin typeface="Poppins"/>
              <a:ea typeface="Poppins"/>
              <a:cs typeface="Poppins"/>
              <a:sym typeface="Poppins"/>
            </a:endParaRPr>
          </a:p>
        </p:txBody>
      </p:sp>
      <p:sp>
        <p:nvSpPr>
          <p:cNvPr id="11" name="TextBox 10">
            <a:extLst>
              <a:ext uri="{FF2B5EF4-FFF2-40B4-BE49-F238E27FC236}">
                <a16:creationId xmlns:a16="http://schemas.microsoft.com/office/drawing/2014/main" id="{6A3C5AF4-D4C2-79DB-D0DD-E1BD22FB0481}"/>
              </a:ext>
            </a:extLst>
          </p:cNvPr>
          <p:cNvSpPr txBox="1"/>
          <p:nvPr/>
        </p:nvSpPr>
        <p:spPr>
          <a:xfrm>
            <a:off x="2276489" y="787643"/>
            <a:ext cx="10493476" cy="475515"/>
          </a:xfrm>
          <a:prstGeom prst="rect">
            <a:avLst/>
          </a:prstGeom>
          <a:noFill/>
        </p:spPr>
        <p:txBody>
          <a:bodyPr wrap="square">
            <a:spAutoFit/>
          </a:bodyPr>
          <a:lstStyle/>
          <a:p>
            <a:pPr algn="l">
              <a:lnSpc>
                <a:spcPts val="3079"/>
              </a:lnSpc>
              <a:spcBef>
                <a:spcPct val="0"/>
              </a:spcBef>
            </a:pPr>
            <a:r>
              <a:rPr lang="en-IN" sz="2400" b="0" i="0" dirty="0" err="1">
                <a:solidFill>
                  <a:srgbClr val="1F1F1F"/>
                </a:solidFill>
                <a:effectLst/>
                <a:latin typeface="Google Sans"/>
              </a:rPr>
              <a:t>IntelliHack</a:t>
            </a:r>
            <a:r>
              <a:rPr lang="en-IN" sz="2400" b="0" i="0" dirty="0">
                <a:solidFill>
                  <a:srgbClr val="1F1F1F"/>
                </a:solidFill>
                <a:effectLst/>
                <a:latin typeface="Google Sans"/>
              </a:rPr>
              <a:t> SRM</a:t>
            </a:r>
            <a:endParaRPr lang="en-US" sz="2400" dirty="0">
              <a:solidFill>
                <a:srgbClr val="0D0D0D"/>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262858" y="1102042"/>
            <a:ext cx="9031836" cy="0"/>
          </a:xfrm>
          <a:prstGeom prst="line">
            <a:avLst/>
          </a:prstGeom>
          <a:ln w="28575" cap="flat">
            <a:solidFill>
              <a:srgbClr val="0D0D0D"/>
            </a:solidFill>
            <a:prstDash val="solid"/>
            <a:headEnd type="none" w="sm" len="sm"/>
            <a:tailEnd type="none" w="sm" len="sm"/>
          </a:ln>
        </p:spPr>
      </p:sp>
      <p:sp>
        <p:nvSpPr>
          <p:cNvPr id="3" name="Freeform 3"/>
          <p:cNvSpPr/>
          <p:nvPr/>
        </p:nvSpPr>
        <p:spPr>
          <a:xfrm>
            <a:off x="1673683" y="885209"/>
            <a:ext cx="419030" cy="433666"/>
          </a:xfrm>
          <a:custGeom>
            <a:avLst/>
            <a:gdLst/>
            <a:ahLst/>
            <a:cxnLst/>
            <a:rect l="l" t="t" r="r" b="b"/>
            <a:pathLst>
              <a:path w="419030" h="433666">
                <a:moveTo>
                  <a:pt x="0" y="0"/>
                </a:moveTo>
                <a:lnTo>
                  <a:pt x="419030" y="0"/>
                </a:lnTo>
                <a:lnTo>
                  <a:pt x="419030" y="433667"/>
                </a:lnTo>
                <a:lnTo>
                  <a:pt x="0" y="4336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049961">
            <a:off x="5933465" y="8556261"/>
            <a:ext cx="5675810" cy="4554838"/>
          </a:xfrm>
          <a:custGeom>
            <a:avLst/>
            <a:gdLst/>
            <a:ahLst/>
            <a:cxnLst/>
            <a:rect l="l" t="t" r="r" b="b"/>
            <a:pathLst>
              <a:path w="5675810" h="4554838">
                <a:moveTo>
                  <a:pt x="0" y="0"/>
                </a:moveTo>
                <a:lnTo>
                  <a:pt x="5675811" y="0"/>
                </a:lnTo>
                <a:lnTo>
                  <a:pt x="5675811" y="4554838"/>
                </a:lnTo>
                <a:lnTo>
                  <a:pt x="0" y="45548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1539771" y="2331138"/>
            <a:ext cx="6024773" cy="6024773"/>
          </a:xfrm>
          <a:custGeom>
            <a:avLst/>
            <a:gdLst/>
            <a:ahLst/>
            <a:cxnLst/>
            <a:rect l="l" t="t" r="r" b="b"/>
            <a:pathLst>
              <a:path w="6024773" h="6024773">
                <a:moveTo>
                  <a:pt x="0" y="0"/>
                </a:moveTo>
                <a:lnTo>
                  <a:pt x="6024773" y="0"/>
                </a:lnTo>
                <a:lnTo>
                  <a:pt x="6024773" y="6024774"/>
                </a:lnTo>
                <a:lnTo>
                  <a:pt x="0" y="6024774"/>
                </a:lnTo>
                <a:lnTo>
                  <a:pt x="0" y="0"/>
                </a:lnTo>
                <a:close/>
              </a:path>
            </a:pathLst>
          </a:custGeom>
          <a:blipFill>
            <a:blip r:embed="rId6"/>
            <a:stretch>
              <a:fillRect/>
            </a:stretch>
          </a:blipFill>
        </p:spPr>
      </p:sp>
      <p:sp>
        <p:nvSpPr>
          <p:cNvPr id="6" name="TextBox 6"/>
          <p:cNvSpPr txBox="1"/>
          <p:nvPr/>
        </p:nvSpPr>
        <p:spPr>
          <a:xfrm>
            <a:off x="514958" y="1967452"/>
            <a:ext cx="8629042" cy="1012826"/>
          </a:xfrm>
          <a:prstGeom prst="rect">
            <a:avLst/>
          </a:prstGeom>
        </p:spPr>
        <p:txBody>
          <a:bodyPr lIns="0" tIns="0" rIns="0" bIns="0" rtlCol="0" anchor="t">
            <a:spAutoFit/>
          </a:bodyPr>
          <a:lstStyle/>
          <a:p>
            <a:pPr algn="l">
              <a:lnSpc>
                <a:spcPts val="7475"/>
              </a:lnSpc>
            </a:pPr>
            <a:r>
              <a:rPr lang="en-US" sz="6500" b="1">
                <a:solidFill>
                  <a:srgbClr val="000000"/>
                </a:solidFill>
                <a:latin typeface="Poppins Bold"/>
                <a:ea typeface="Poppins Bold"/>
                <a:cs typeface="Poppins Bold"/>
                <a:sym typeface="Poppins Bold"/>
              </a:rPr>
              <a:t>Solution Overview</a:t>
            </a:r>
          </a:p>
        </p:txBody>
      </p:sp>
      <p:sp>
        <p:nvSpPr>
          <p:cNvPr id="7" name="TextBox 7"/>
          <p:cNvSpPr txBox="1"/>
          <p:nvPr/>
        </p:nvSpPr>
        <p:spPr>
          <a:xfrm>
            <a:off x="1202237" y="6840855"/>
            <a:ext cx="13349921" cy="1939925"/>
          </a:xfrm>
          <a:prstGeom prst="rect">
            <a:avLst/>
          </a:prstGeom>
        </p:spPr>
        <p:txBody>
          <a:bodyPr lIns="0" tIns="0" rIns="0" bIns="0" rtlCol="0" anchor="t">
            <a:spAutoFit/>
          </a:bodyPr>
          <a:lstStyle/>
          <a:p>
            <a:pPr algn="l">
              <a:lnSpc>
                <a:spcPts val="3100"/>
              </a:lnSpc>
            </a:pPr>
            <a:r>
              <a:rPr lang="en-US" sz="2000" spc="12">
                <a:solidFill>
                  <a:srgbClr val="000000"/>
                </a:solidFill>
                <a:latin typeface="DM Sans"/>
                <a:ea typeface="DM Sans"/>
                <a:cs typeface="DM Sans"/>
                <a:sym typeface="DM Sans"/>
              </a:rPr>
              <a:t>Textual Intelligence ✍️</a:t>
            </a:r>
          </a:p>
          <a:p>
            <a:pPr marL="431801" lvl="1" indent="-215900" algn="l">
              <a:lnSpc>
                <a:spcPts val="3100"/>
              </a:lnSpc>
              <a:buFont typeface="Arial"/>
              <a:buChar char="•"/>
            </a:pPr>
            <a:r>
              <a:rPr lang="en-US" sz="2000" spc="12">
                <a:solidFill>
                  <a:srgbClr val="000000"/>
                </a:solidFill>
                <a:latin typeface="DM Sans"/>
                <a:ea typeface="DM Sans"/>
                <a:cs typeface="DM Sans"/>
                <a:sym typeface="DM Sans"/>
              </a:rPr>
              <a:t>Transcribes and analyzes speech logic</a:t>
            </a:r>
          </a:p>
          <a:p>
            <a:pPr marL="431801" lvl="1" indent="-215900" algn="l">
              <a:lnSpc>
                <a:spcPts val="3100"/>
              </a:lnSpc>
              <a:buFont typeface="Arial"/>
              <a:buChar char="•"/>
            </a:pPr>
            <a:r>
              <a:rPr lang="en-US" sz="2000" spc="12">
                <a:solidFill>
                  <a:srgbClr val="000000"/>
                </a:solidFill>
                <a:latin typeface="DM Sans"/>
                <a:ea typeface="DM Sans"/>
                <a:cs typeface="DM Sans"/>
                <a:sym typeface="DM Sans"/>
              </a:rPr>
              <a:t>Evaluates coherence, vocabulary variety, and engagement using NLP</a:t>
            </a:r>
          </a:p>
          <a:p>
            <a:pPr algn="l">
              <a:lnSpc>
                <a:spcPts val="3100"/>
              </a:lnSpc>
            </a:pPr>
            <a:endParaRPr lang="en-US" sz="2000" spc="12">
              <a:solidFill>
                <a:srgbClr val="000000"/>
              </a:solidFill>
              <a:latin typeface="DM Sans"/>
              <a:ea typeface="DM Sans"/>
              <a:cs typeface="DM Sans"/>
              <a:sym typeface="DM Sans"/>
            </a:endParaRPr>
          </a:p>
          <a:p>
            <a:pPr algn="l">
              <a:lnSpc>
                <a:spcPts val="3100"/>
              </a:lnSpc>
            </a:pPr>
            <a:endParaRPr lang="en-US" sz="2000" spc="12">
              <a:solidFill>
                <a:srgbClr val="000000"/>
              </a:solidFill>
              <a:latin typeface="DM Sans"/>
              <a:ea typeface="DM Sans"/>
              <a:cs typeface="DM Sans"/>
              <a:sym typeface="DM Sans"/>
            </a:endParaRPr>
          </a:p>
        </p:txBody>
      </p:sp>
      <p:sp>
        <p:nvSpPr>
          <p:cNvPr id="8" name="TextBox 8"/>
          <p:cNvSpPr txBox="1"/>
          <p:nvPr/>
        </p:nvSpPr>
        <p:spPr>
          <a:xfrm>
            <a:off x="323850" y="3532728"/>
            <a:ext cx="704850" cy="1010285"/>
          </a:xfrm>
          <a:prstGeom prst="rect">
            <a:avLst/>
          </a:prstGeom>
        </p:spPr>
        <p:txBody>
          <a:bodyPr lIns="0" tIns="0" rIns="0" bIns="0" rtlCol="0" anchor="t">
            <a:spAutoFit/>
          </a:bodyPr>
          <a:lstStyle/>
          <a:p>
            <a:pPr algn="r">
              <a:lnSpc>
                <a:spcPts val="7840"/>
              </a:lnSpc>
              <a:spcBef>
                <a:spcPct val="0"/>
              </a:spcBef>
            </a:pPr>
            <a:r>
              <a:rPr lang="en-US" sz="5600" b="1">
                <a:solidFill>
                  <a:srgbClr val="000000"/>
                </a:solidFill>
                <a:latin typeface="Poppins Medium"/>
                <a:ea typeface="Poppins Medium"/>
                <a:cs typeface="Poppins Medium"/>
                <a:sym typeface="Poppins Medium"/>
              </a:rPr>
              <a:t>01</a:t>
            </a:r>
          </a:p>
        </p:txBody>
      </p:sp>
      <p:sp>
        <p:nvSpPr>
          <p:cNvPr id="9" name="TextBox 9"/>
          <p:cNvSpPr txBox="1"/>
          <p:nvPr/>
        </p:nvSpPr>
        <p:spPr>
          <a:xfrm>
            <a:off x="2276489" y="876300"/>
            <a:ext cx="2066911" cy="1172180"/>
          </a:xfrm>
          <a:prstGeom prst="rect">
            <a:avLst/>
          </a:prstGeom>
        </p:spPr>
        <p:txBody>
          <a:bodyPr wrap="square" lIns="0" tIns="0" rIns="0" bIns="0" rtlCol="0" anchor="t">
            <a:spAutoFit/>
          </a:bodyPr>
          <a:lstStyle/>
          <a:p>
            <a:pPr>
              <a:lnSpc>
                <a:spcPts val="3079"/>
              </a:lnSpc>
            </a:pPr>
            <a:r>
              <a:rPr lang="en-IN" sz="2400" b="0" i="0" dirty="0" err="1">
                <a:solidFill>
                  <a:srgbClr val="1F1F1F"/>
                </a:solidFill>
                <a:effectLst/>
                <a:latin typeface="Google Sans"/>
              </a:rPr>
              <a:t>IntelliHack</a:t>
            </a:r>
            <a:r>
              <a:rPr lang="en-IN" sz="2400" b="0" i="0" dirty="0">
                <a:solidFill>
                  <a:srgbClr val="1F1F1F"/>
                </a:solidFill>
                <a:effectLst/>
                <a:latin typeface="Google Sans"/>
              </a:rPr>
              <a:t> SRM</a:t>
            </a:r>
            <a:endParaRPr lang="en-US" sz="2400" dirty="0">
              <a:solidFill>
                <a:srgbClr val="0D0D0D"/>
              </a:solidFill>
              <a:latin typeface="Poppins"/>
              <a:ea typeface="Poppins"/>
              <a:cs typeface="Poppins"/>
              <a:sym typeface="Poppins"/>
            </a:endParaRPr>
          </a:p>
          <a:p>
            <a:pPr algn="l">
              <a:lnSpc>
                <a:spcPts val="3079"/>
              </a:lnSpc>
            </a:pPr>
            <a:endParaRPr lang="en-US" sz="2400" dirty="0">
              <a:solidFill>
                <a:srgbClr val="0D0D0D"/>
              </a:solidFill>
              <a:latin typeface="Poppins"/>
              <a:ea typeface="Poppins"/>
              <a:cs typeface="Poppins"/>
              <a:sym typeface="Poppins"/>
            </a:endParaRPr>
          </a:p>
          <a:p>
            <a:pPr algn="l">
              <a:lnSpc>
                <a:spcPts val="3079"/>
              </a:lnSpc>
              <a:spcBef>
                <a:spcPct val="0"/>
              </a:spcBef>
            </a:pPr>
            <a:endParaRPr lang="en-US" sz="2400" dirty="0">
              <a:solidFill>
                <a:srgbClr val="0D0D0D"/>
              </a:solidFill>
              <a:latin typeface="Poppins"/>
              <a:ea typeface="Poppins"/>
              <a:cs typeface="Poppins"/>
              <a:sym typeface="Poppins"/>
            </a:endParaRPr>
          </a:p>
        </p:txBody>
      </p:sp>
      <p:sp>
        <p:nvSpPr>
          <p:cNvPr id="10" name="TextBox 10"/>
          <p:cNvSpPr txBox="1"/>
          <p:nvPr/>
        </p:nvSpPr>
        <p:spPr>
          <a:xfrm>
            <a:off x="1202237" y="3769995"/>
            <a:ext cx="6302097" cy="1268730"/>
          </a:xfrm>
          <a:prstGeom prst="rect">
            <a:avLst/>
          </a:prstGeom>
        </p:spPr>
        <p:txBody>
          <a:bodyPr lIns="0" tIns="0" rIns="0" bIns="0" rtlCol="0" anchor="t">
            <a:spAutoFit/>
          </a:bodyPr>
          <a:lstStyle/>
          <a:p>
            <a:pPr algn="just">
              <a:lnSpc>
                <a:spcPts val="2520"/>
              </a:lnSpc>
              <a:spcBef>
                <a:spcPct val="0"/>
              </a:spcBef>
            </a:pPr>
            <a:r>
              <a:rPr lang="en-US" sz="1800" spc="10">
                <a:solidFill>
                  <a:srgbClr val="000000"/>
                </a:solidFill>
                <a:latin typeface="Poppins"/>
                <a:ea typeface="Poppins"/>
                <a:cs typeface="Poppins"/>
                <a:sym typeface="Poppins"/>
              </a:rPr>
              <a:t>Visual Analysis 👀</a:t>
            </a:r>
          </a:p>
          <a:p>
            <a:pPr marL="388622" lvl="1" indent="-194311" algn="just">
              <a:lnSpc>
                <a:spcPts val="2520"/>
              </a:lnSpc>
              <a:spcBef>
                <a:spcPct val="0"/>
              </a:spcBef>
              <a:buFont typeface="Arial"/>
              <a:buChar char="•"/>
            </a:pPr>
            <a:r>
              <a:rPr lang="en-US" sz="1800">
                <a:solidFill>
                  <a:srgbClr val="000000"/>
                </a:solidFill>
                <a:latin typeface="Poppins"/>
                <a:ea typeface="Poppins"/>
                <a:cs typeface="Poppins"/>
                <a:sym typeface="Poppins"/>
              </a:rPr>
              <a:t>Tracks eye contact, facial expressions, engagement</a:t>
            </a:r>
          </a:p>
          <a:p>
            <a:pPr marL="388622" lvl="1" indent="-194311" algn="just">
              <a:lnSpc>
                <a:spcPts val="2520"/>
              </a:lnSpc>
              <a:spcBef>
                <a:spcPct val="0"/>
              </a:spcBef>
              <a:buFont typeface="Arial"/>
              <a:buChar char="•"/>
            </a:pPr>
            <a:r>
              <a:rPr lang="en-US" sz="1800">
                <a:solidFill>
                  <a:srgbClr val="000000"/>
                </a:solidFill>
                <a:latin typeface="Poppins"/>
                <a:ea typeface="Poppins"/>
                <a:cs typeface="Poppins"/>
                <a:sym typeface="Poppins"/>
              </a:rPr>
              <a:t>Detects emotional tone, confidence levels</a:t>
            </a:r>
          </a:p>
          <a:p>
            <a:pPr algn="just">
              <a:lnSpc>
                <a:spcPts val="2520"/>
              </a:lnSpc>
              <a:spcBef>
                <a:spcPct val="0"/>
              </a:spcBef>
            </a:pPr>
            <a:endParaRPr lang="en-US" sz="1800">
              <a:solidFill>
                <a:srgbClr val="000000"/>
              </a:solidFill>
              <a:latin typeface="Poppins"/>
              <a:ea typeface="Poppins"/>
              <a:cs typeface="Poppins"/>
              <a:sym typeface="Poppins"/>
            </a:endParaRPr>
          </a:p>
        </p:txBody>
      </p:sp>
      <p:sp>
        <p:nvSpPr>
          <p:cNvPr id="11" name="TextBox 11"/>
          <p:cNvSpPr txBox="1"/>
          <p:nvPr/>
        </p:nvSpPr>
        <p:spPr>
          <a:xfrm>
            <a:off x="243126" y="5091598"/>
            <a:ext cx="866299" cy="1010285"/>
          </a:xfrm>
          <a:prstGeom prst="rect">
            <a:avLst/>
          </a:prstGeom>
        </p:spPr>
        <p:txBody>
          <a:bodyPr lIns="0" tIns="0" rIns="0" bIns="0" rtlCol="0" anchor="t">
            <a:spAutoFit/>
          </a:bodyPr>
          <a:lstStyle/>
          <a:p>
            <a:pPr algn="r">
              <a:lnSpc>
                <a:spcPts val="7840"/>
              </a:lnSpc>
              <a:spcBef>
                <a:spcPct val="0"/>
              </a:spcBef>
            </a:pPr>
            <a:r>
              <a:rPr lang="en-US" sz="5600" b="1">
                <a:solidFill>
                  <a:srgbClr val="000000"/>
                </a:solidFill>
                <a:latin typeface="Poppins Medium"/>
                <a:ea typeface="Poppins Medium"/>
                <a:cs typeface="Poppins Medium"/>
                <a:sym typeface="Poppins Medium"/>
              </a:rPr>
              <a:t>02</a:t>
            </a:r>
          </a:p>
        </p:txBody>
      </p:sp>
      <p:sp>
        <p:nvSpPr>
          <p:cNvPr id="12" name="TextBox 12"/>
          <p:cNvSpPr txBox="1"/>
          <p:nvPr/>
        </p:nvSpPr>
        <p:spPr>
          <a:xfrm>
            <a:off x="1202237" y="5286375"/>
            <a:ext cx="5965746" cy="1583055"/>
          </a:xfrm>
          <a:prstGeom prst="rect">
            <a:avLst/>
          </a:prstGeom>
        </p:spPr>
        <p:txBody>
          <a:bodyPr lIns="0" tIns="0" rIns="0" bIns="0" rtlCol="0" anchor="t">
            <a:spAutoFit/>
          </a:bodyPr>
          <a:lstStyle/>
          <a:p>
            <a:pPr algn="just">
              <a:lnSpc>
                <a:spcPts val="2520"/>
              </a:lnSpc>
              <a:spcBef>
                <a:spcPct val="0"/>
              </a:spcBef>
            </a:pPr>
            <a:r>
              <a:rPr lang="en-US" sz="1800" spc="10">
                <a:solidFill>
                  <a:srgbClr val="000000"/>
                </a:solidFill>
                <a:latin typeface="Poppins"/>
                <a:ea typeface="Poppins"/>
                <a:cs typeface="Poppins"/>
                <a:sym typeface="Poppins"/>
              </a:rPr>
              <a:t>Audio Analysis 🎙️</a:t>
            </a:r>
          </a:p>
          <a:p>
            <a:pPr marL="388622" lvl="1" indent="-194311" algn="just">
              <a:lnSpc>
                <a:spcPts val="2520"/>
              </a:lnSpc>
              <a:spcBef>
                <a:spcPct val="0"/>
              </a:spcBef>
              <a:buFont typeface="Arial"/>
              <a:buChar char="•"/>
            </a:pPr>
            <a:r>
              <a:rPr lang="en-US" sz="1800" spc="10">
                <a:solidFill>
                  <a:srgbClr val="000000"/>
                </a:solidFill>
                <a:latin typeface="Poppins"/>
                <a:ea typeface="Poppins"/>
                <a:cs typeface="Poppins"/>
                <a:sym typeface="Poppins"/>
              </a:rPr>
              <a:t>Measures speech fluency using WPM, ZCR, MFCC</a:t>
            </a:r>
          </a:p>
          <a:p>
            <a:pPr marL="388622" lvl="1" indent="-194311" algn="just">
              <a:lnSpc>
                <a:spcPts val="2520"/>
              </a:lnSpc>
              <a:spcBef>
                <a:spcPct val="0"/>
              </a:spcBef>
              <a:buFont typeface="Arial"/>
              <a:buChar char="•"/>
            </a:pPr>
            <a:r>
              <a:rPr lang="en-US" sz="1800" spc="10">
                <a:solidFill>
                  <a:srgbClr val="000000"/>
                </a:solidFill>
                <a:latin typeface="Poppins"/>
                <a:ea typeface="Poppins"/>
                <a:cs typeface="Poppins"/>
                <a:sym typeface="Poppins"/>
              </a:rPr>
              <a:t>Flags filler words, awkward pauses, tone shifts</a:t>
            </a:r>
          </a:p>
          <a:p>
            <a:pPr algn="just">
              <a:lnSpc>
                <a:spcPts val="2520"/>
              </a:lnSpc>
              <a:spcBef>
                <a:spcPct val="0"/>
              </a:spcBef>
            </a:pPr>
            <a:endParaRPr lang="en-US" sz="1800" spc="10">
              <a:solidFill>
                <a:srgbClr val="000000"/>
              </a:solidFill>
              <a:latin typeface="Poppins"/>
              <a:ea typeface="Poppins"/>
              <a:cs typeface="Poppins"/>
              <a:sym typeface="Poppins"/>
            </a:endParaRPr>
          </a:p>
          <a:p>
            <a:pPr algn="just">
              <a:lnSpc>
                <a:spcPts val="2520"/>
              </a:lnSpc>
              <a:spcBef>
                <a:spcPct val="0"/>
              </a:spcBef>
            </a:pPr>
            <a:endParaRPr lang="en-US" sz="1800" spc="10">
              <a:solidFill>
                <a:srgbClr val="000000"/>
              </a:solidFill>
              <a:latin typeface="Poppins"/>
              <a:ea typeface="Poppins"/>
              <a:cs typeface="Poppins"/>
              <a:sym typeface="Poppins"/>
            </a:endParaRPr>
          </a:p>
        </p:txBody>
      </p:sp>
      <p:sp>
        <p:nvSpPr>
          <p:cNvPr id="13" name="TextBox 13"/>
          <p:cNvSpPr txBox="1"/>
          <p:nvPr/>
        </p:nvSpPr>
        <p:spPr>
          <a:xfrm>
            <a:off x="231100" y="6654333"/>
            <a:ext cx="878324" cy="1010285"/>
          </a:xfrm>
          <a:prstGeom prst="rect">
            <a:avLst/>
          </a:prstGeom>
        </p:spPr>
        <p:txBody>
          <a:bodyPr lIns="0" tIns="0" rIns="0" bIns="0" rtlCol="0" anchor="t">
            <a:spAutoFit/>
          </a:bodyPr>
          <a:lstStyle/>
          <a:p>
            <a:pPr algn="r">
              <a:lnSpc>
                <a:spcPts val="7840"/>
              </a:lnSpc>
              <a:spcBef>
                <a:spcPct val="0"/>
              </a:spcBef>
            </a:pPr>
            <a:r>
              <a:rPr lang="en-US" sz="5600" b="1">
                <a:solidFill>
                  <a:srgbClr val="000000"/>
                </a:solidFill>
                <a:latin typeface="Poppins Medium"/>
                <a:ea typeface="Poppins Medium"/>
                <a:cs typeface="Poppins Medium"/>
                <a:sym typeface="Poppins Medium"/>
              </a:rPr>
              <a:t>03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2568" y="480424"/>
            <a:ext cx="419030" cy="433666"/>
          </a:xfrm>
          <a:custGeom>
            <a:avLst/>
            <a:gdLst/>
            <a:ahLst/>
            <a:cxnLst/>
            <a:rect l="l" t="t" r="r" b="b"/>
            <a:pathLst>
              <a:path w="419030" h="433666">
                <a:moveTo>
                  <a:pt x="0" y="0"/>
                </a:moveTo>
                <a:lnTo>
                  <a:pt x="419030" y="0"/>
                </a:lnTo>
                <a:lnTo>
                  <a:pt x="419030" y="433667"/>
                </a:lnTo>
                <a:lnTo>
                  <a:pt x="0" y="4336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448150" y="1237199"/>
            <a:ext cx="9061172" cy="2076114"/>
            <a:chOff x="0" y="0"/>
            <a:chExt cx="2386482" cy="546795"/>
          </a:xfrm>
        </p:grpSpPr>
        <p:sp>
          <p:nvSpPr>
            <p:cNvPr id="4" name="Freeform 4"/>
            <p:cNvSpPr/>
            <p:nvPr/>
          </p:nvSpPr>
          <p:spPr>
            <a:xfrm>
              <a:off x="0" y="0"/>
              <a:ext cx="2386482" cy="546795"/>
            </a:xfrm>
            <a:custGeom>
              <a:avLst/>
              <a:gdLst/>
              <a:ahLst/>
              <a:cxnLst/>
              <a:rect l="l" t="t" r="r" b="b"/>
              <a:pathLst>
                <a:path w="2386482" h="546795">
                  <a:moveTo>
                    <a:pt x="18797" y="0"/>
                  </a:moveTo>
                  <a:lnTo>
                    <a:pt x="2367685" y="0"/>
                  </a:lnTo>
                  <a:cubicBezTo>
                    <a:pt x="2372670" y="0"/>
                    <a:pt x="2377451" y="1980"/>
                    <a:pt x="2380976" y="5505"/>
                  </a:cubicBezTo>
                  <a:cubicBezTo>
                    <a:pt x="2384501" y="9031"/>
                    <a:pt x="2386482" y="13812"/>
                    <a:pt x="2386482" y="18797"/>
                  </a:cubicBezTo>
                  <a:lnTo>
                    <a:pt x="2386482" y="527998"/>
                  </a:lnTo>
                  <a:cubicBezTo>
                    <a:pt x="2386482" y="538380"/>
                    <a:pt x="2378066" y="546795"/>
                    <a:pt x="2367685" y="546795"/>
                  </a:cubicBezTo>
                  <a:lnTo>
                    <a:pt x="18797" y="546795"/>
                  </a:lnTo>
                  <a:cubicBezTo>
                    <a:pt x="8416" y="546795"/>
                    <a:pt x="0" y="538380"/>
                    <a:pt x="0" y="527998"/>
                  </a:cubicBezTo>
                  <a:lnTo>
                    <a:pt x="0" y="18797"/>
                  </a:lnTo>
                  <a:cubicBezTo>
                    <a:pt x="0" y="8416"/>
                    <a:pt x="8416" y="0"/>
                    <a:pt x="18797" y="0"/>
                  </a:cubicBezTo>
                  <a:close/>
                </a:path>
              </a:pathLst>
            </a:custGeom>
            <a:solidFill>
              <a:srgbClr val="7B29E8">
                <a:alpha val="95686"/>
              </a:srgbClr>
            </a:solidFill>
          </p:spPr>
        </p:sp>
        <p:sp>
          <p:nvSpPr>
            <p:cNvPr id="5" name="TextBox 5"/>
            <p:cNvSpPr txBox="1"/>
            <p:nvPr/>
          </p:nvSpPr>
          <p:spPr>
            <a:xfrm>
              <a:off x="0" y="-57150"/>
              <a:ext cx="2386482" cy="603945"/>
            </a:xfrm>
            <a:prstGeom prst="rect">
              <a:avLst/>
            </a:prstGeom>
          </p:spPr>
          <p:txBody>
            <a:bodyPr lIns="50800" tIns="50800" rIns="50800" bIns="50800" rtlCol="0" anchor="ctr"/>
            <a:lstStyle/>
            <a:p>
              <a:pPr algn="ctr">
                <a:lnSpc>
                  <a:spcPts val="3079"/>
                </a:lnSpc>
              </a:pPr>
              <a:endParaRPr/>
            </a:p>
          </p:txBody>
        </p:sp>
      </p:grpSp>
      <p:sp>
        <p:nvSpPr>
          <p:cNvPr id="6" name="TextBox 6"/>
          <p:cNvSpPr txBox="1"/>
          <p:nvPr/>
        </p:nvSpPr>
        <p:spPr>
          <a:xfrm>
            <a:off x="5838422" y="4374337"/>
            <a:ext cx="5741419" cy="710567"/>
          </a:xfrm>
          <a:prstGeom prst="rect">
            <a:avLst/>
          </a:prstGeom>
        </p:spPr>
        <p:txBody>
          <a:bodyPr lIns="0" tIns="0" rIns="0" bIns="0" rtlCol="0" anchor="t">
            <a:spAutoFit/>
          </a:bodyPr>
          <a:lstStyle/>
          <a:p>
            <a:pPr algn="ctr">
              <a:lnSpc>
                <a:spcPts val="2760"/>
              </a:lnSpc>
            </a:pPr>
            <a:r>
              <a:rPr lang="en-US" sz="2400" b="1">
                <a:solidFill>
                  <a:srgbClr val="000000"/>
                </a:solidFill>
                <a:latin typeface="Poppins Bold"/>
                <a:ea typeface="Poppins Bold"/>
                <a:cs typeface="Poppins Bold"/>
                <a:sym typeface="Poppins Bold"/>
              </a:rPr>
              <a:t>Tech Stack </a:t>
            </a:r>
          </a:p>
          <a:p>
            <a:pPr algn="ctr">
              <a:lnSpc>
                <a:spcPts val="2760"/>
              </a:lnSpc>
            </a:pPr>
            <a:r>
              <a:rPr lang="en-US" sz="2400" b="1">
                <a:solidFill>
                  <a:srgbClr val="000000"/>
                </a:solidFill>
                <a:latin typeface="Poppins Bold"/>
                <a:ea typeface="Poppins Bold"/>
                <a:cs typeface="Poppins Bold"/>
                <a:sym typeface="Poppins Bold"/>
              </a:rPr>
              <a:t>Under the Hood of Voclayst</a:t>
            </a:r>
          </a:p>
        </p:txBody>
      </p:sp>
      <p:sp>
        <p:nvSpPr>
          <p:cNvPr id="7" name="TextBox 7"/>
          <p:cNvSpPr txBox="1"/>
          <p:nvPr/>
        </p:nvSpPr>
        <p:spPr>
          <a:xfrm>
            <a:off x="1174993" y="472785"/>
            <a:ext cx="2406407" cy="383182"/>
          </a:xfrm>
          <a:prstGeom prst="rect">
            <a:avLst/>
          </a:prstGeom>
        </p:spPr>
        <p:txBody>
          <a:bodyPr wrap="square" lIns="0" tIns="0" rIns="0" bIns="0" rtlCol="0" anchor="t">
            <a:spAutoFit/>
          </a:bodyPr>
          <a:lstStyle/>
          <a:p>
            <a:pPr algn="l">
              <a:lnSpc>
                <a:spcPts val="3079"/>
              </a:lnSpc>
              <a:spcBef>
                <a:spcPct val="0"/>
              </a:spcBef>
            </a:pPr>
            <a:r>
              <a:rPr lang="en-IN" sz="2400" b="0" i="0" dirty="0" err="1">
                <a:solidFill>
                  <a:srgbClr val="1F1F1F"/>
                </a:solidFill>
                <a:effectLst/>
                <a:latin typeface="Google Sans"/>
              </a:rPr>
              <a:t>IntelliHack</a:t>
            </a:r>
            <a:r>
              <a:rPr lang="en-IN" sz="2400" b="0" i="0" dirty="0">
                <a:solidFill>
                  <a:srgbClr val="1F1F1F"/>
                </a:solidFill>
                <a:effectLst/>
                <a:latin typeface="Google Sans"/>
              </a:rPr>
              <a:t> SRM</a:t>
            </a:r>
            <a:endParaRPr lang="en-US" sz="2400" dirty="0">
              <a:solidFill>
                <a:srgbClr val="0D0D0D"/>
              </a:solidFill>
              <a:latin typeface="Poppins"/>
              <a:ea typeface="Poppins"/>
              <a:cs typeface="Poppins"/>
              <a:sym typeface="Poppins"/>
            </a:endParaRPr>
          </a:p>
        </p:txBody>
      </p:sp>
      <p:sp>
        <p:nvSpPr>
          <p:cNvPr id="8" name="TextBox 8"/>
          <p:cNvSpPr txBox="1"/>
          <p:nvPr/>
        </p:nvSpPr>
        <p:spPr>
          <a:xfrm>
            <a:off x="684033" y="1534605"/>
            <a:ext cx="8825289" cy="2796540"/>
          </a:xfrm>
          <a:prstGeom prst="rect">
            <a:avLst/>
          </a:prstGeom>
        </p:spPr>
        <p:txBody>
          <a:bodyPr lIns="0" tIns="0" rIns="0" bIns="0" rtlCol="0" anchor="t">
            <a:spAutoFit/>
          </a:bodyPr>
          <a:lstStyle/>
          <a:p>
            <a:pPr algn="l">
              <a:lnSpc>
                <a:spcPts val="2790"/>
              </a:lnSpc>
            </a:pPr>
            <a:endParaRPr/>
          </a:p>
          <a:p>
            <a:pPr marL="388620" lvl="1" indent="-194310" algn="l">
              <a:lnSpc>
                <a:spcPts val="2790"/>
              </a:lnSpc>
              <a:buFont typeface="Arial"/>
              <a:buChar char="•"/>
            </a:pPr>
            <a:r>
              <a:rPr lang="en-US" sz="1800" spc="10">
                <a:solidFill>
                  <a:srgbClr val="FFFFFF"/>
                </a:solidFill>
                <a:latin typeface="DM Sans"/>
                <a:ea typeface="DM Sans"/>
                <a:cs typeface="DM Sans"/>
                <a:sym typeface="DM Sans"/>
              </a:rPr>
              <a:t>GazeTracking (via MediaPipe) – Eye contact and engagement estimation</a:t>
            </a:r>
          </a:p>
          <a:p>
            <a:pPr marL="388620" lvl="1" indent="-194310" algn="l">
              <a:lnSpc>
                <a:spcPts val="2790"/>
              </a:lnSpc>
              <a:buFont typeface="Arial"/>
              <a:buChar char="•"/>
            </a:pPr>
            <a:r>
              <a:rPr lang="en-US" sz="1800" spc="10">
                <a:solidFill>
                  <a:srgbClr val="FFFFFF"/>
                </a:solidFill>
                <a:latin typeface="DM Sans"/>
                <a:ea typeface="DM Sans"/>
                <a:cs typeface="DM Sans"/>
                <a:sym typeface="DM Sans"/>
              </a:rPr>
              <a:t>Facial Microexpression Detection – Based on Edlitera techniques</a:t>
            </a:r>
          </a:p>
          <a:p>
            <a:pPr marL="388620" lvl="1" indent="-194310" algn="l">
              <a:lnSpc>
                <a:spcPts val="2790"/>
              </a:lnSpc>
              <a:buFont typeface="Arial"/>
              <a:buChar char="•"/>
            </a:pPr>
            <a:r>
              <a:rPr lang="en-US" sz="1800" spc="10">
                <a:solidFill>
                  <a:srgbClr val="FFFFFF"/>
                </a:solidFill>
                <a:latin typeface="DM Sans"/>
                <a:ea typeface="DM Sans"/>
                <a:cs typeface="DM Sans"/>
                <a:sym typeface="DM Sans"/>
              </a:rPr>
              <a:t>OpenCV – Frame extraction and video preprocessing</a:t>
            </a:r>
          </a:p>
          <a:p>
            <a:pPr algn="l">
              <a:lnSpc>
                <a:spcPts val="2790"/>
              </a:lnSpc>
            </a:pPr>
            <a:endParaRPr lang="en-US" sz="1800" spc="10">
              <a:solidFill>
                <a:srgbClr val="FFFFFF"/>
              </a:solidFill>
              <a:latin typeface="DM Sans"/>
              <a:ea typeface="DM Sans"/>
              <a:cs typeface="DM Sans"/>
              <a:sym typeface="DM Sans"/>
            </a:endParaRPr>
          </a:p>
          <a:p>
            <a:pPr algn="l">
              <a:lnSpc>
                <a:spcPts val="2790"/>
              </a:lnSpc>
            </a:pPr>
            <a:endParaRPr lang="en-US" sz="1800" spc="10">
              <a:solidFill>
                <a:srgbClr val="FFFFFF"/>
              </a:solidFill>
              <a:latin typeface="DM Sans"/>
              <a:ea typeface="DM Sans"/>
              <a:cs typeface="DM Sans"/>
              <a:sym typeface="DM Sans"/>
            </a:endParaRPr>
          </a:p>
          <a:p>
            <a:pPr algn="l">
              <a:lnSpc>
                <a:spcPts val="2790"/>
              </a:lnSpc>
            </a:pPr>
            <a:endParaRPr lang="en-US" sz="1800" spc="10">
              <a:solidFill>
                <a:srgbClr val="FFFFFF"/>
              </a:solidFill>
              <a:latin typeface="DM Sans"/>
              <a:ea typeface="DM Sans"/>
              <a:cs typeface="DM Sans"/>
              <a:sym typeface="DM Sans"/>
            </a:endParaRPr>
          </a:p>
          <a:p>
            <a:pPr algn="l">
              <a:lnSpc>
                <a:spcPts val="2790"/>
              </a:lnSpc>
            </a:pPr>
            <a:endParaRPr lang="en-US" sz="1800" spc="10">
              <a:solidFill>
                <a:srgbClr val="FFFFFF"/>
              </a:solidFill>
              <a:latin typeface="DM Sans"/>
              <a:ea typeface="DM Sans"/>
              <a:cs typeface="DM Sans"/>
              <a:sym typeface="DM Sans"/>
            </a:endParaRPr>
          </a:p>
        </p:txBody>
      </p:sp>
      <p:sp>
        <p:nvSpPr>
          <p:cNvPr id="9" name="TextBox 9"/>
          <p:cNvSpPr txBox="1"/>
          <p:nvPr/>
        </p:nvSpPr>
        <p:spPr>
          <a:xfrm>
            <a:off x="-247565" y="1306006"/>
            <a:ext cx="9277552" cy="514349"/>
          </a:xfrm>
          <a:prstGeom prst="rect">
            <a:avLst/>
          </a:prstGeom>
        </p:spPr>
        <p:txBody>
          <a:bodyPr lIns="0" tIns="0" rIns="0" bIns="0" rtlCol="0" anchor="t">
            <a:spAutoFit/>
          </a:bodyPr>
          <a:lstStyle/>
          <a:p>
            <a:pPr algn="ctr">
              <a:lnSpc>
                <a:spcPts val="4200"/>
              </a:lnSpc>
            </a:pPr>
            <a:r>
              <a:rPr lang="en-US" sz="3000" b="1">
                <a:solidFill>
                  <a:srgbClr val="FFFFFF"/>
                </a:solidFill>
                <a:latin typeface="Canva Sans Bold"/>
                <a:ea typeface="Canva Sans Bold"/>
                <a:cs typeface="Canva Sans Bold"/>
                <a:sym typeface="Canva Sans Bold"/>
              </a:rPr>
              <a:t>Computer Vision &amp; Expression Analysis</a:t>
            </a:r>
          </a:p>
        </p:txBody>
      </p:sp>
      <p:grpSp>
        <p:nvGrpSpPr>
          <p:cNvPr id="10" name="Group 10"/>
          <p:cNvGrpSpPr/>
          <p:nvPr/>
        </p:nvGrpSpPr>
        <p:grpSpPr>
          <a:xfrm>
            <a:off x="10091147" y="1363156"/>
            <a:ext cx="5779630" cy="1538063"/>
            <a:chOff x="0" y="0"/>
            <a:chExt cx="1522207" cy="405087"/>
          </a:xfrm>
        </p:grpSpPr>
        <p:sp>
          <p:nvSpPr>
            <p:cNvPr id="11" name="Freeform 11"/>
            <p:cNvSpPr/>
            <p:nvPr/>
          </p:nvSpPr>
          <p:spPr>
            <a:xfrm>
              <a:off x="0" y="0"/>
              <a:ext cx="1522207" cy="405087"/>
            </a:xfrm>
            <a:custGeom>
              <a:avLst/>
              <a:gdLst/>
              <a:ahLst/>
              <a:cxnLst/>
              <a:rect l="l" t="t" r="r" b="b"/>
              <a:pathLst>
                <a:path w="1522207" h="405087">
                  <a:moveTo>
                    <a:pt x="29469" y="0"/>
                  </a:moveTo>
                  <a:lnTo>
                    <a:pt x="1492738" y="0"/>
                  </a:lnTo>
                  <a:cubicBezTo>
                    <a:pt x="1500553" y="0"/>
                    <a:pt x="1508049" y="3105"/>
                    <a:pt x="1513576" y="8631"/>
                  </a:cubicBezTo>
                  <a:cubicBezTo>
                    <a:pt x="1519102" y="14158"/>
                    <a:pt x="1522207" y="21654"/>
                    <a:pt x="1522207" y="29469"/>
                  </a:cubicBezTo>
                  <a:lnTo>
                    <a:pt x="1522207" y="375617"/>
                  </a:lnTo>
                  <a:cubicBezTo>
                    <a:pt x="1522207" y="383433"/>
                    <a:pt x="1519102" y="390929"/>
                    <a:pt x="1513576" y="396455"/>
                  </a:cubicBezTo>
                  <a:cubicBezTo>
                    <a:pt x="1508049" y="401982"/>
                    <a:pt x="1500553" y="405087"/>
                    <a:pt x="1492738" y="405087"/>
                  </a:cubicBezTo>
                  <a:lnTo>
                    <a:pt x="29469" y="405087"/>
                  </a:lnTo>
                  <a:cubicBezTo>
                    <a:pt x="21654" y="405087"/>
                    <a:pt x="14158" y="401982"/>
                    <a:pt x="8631" y="396455"/>
                  </a:cubicBezTo>
                  <a:cubicBezTo>
                    <a:pt x="3105" y="390929"/>
                    <a:pt x="0" y="383433"/>
                    <a:pt x="0" y="375617"/>
                  </a:cubicBezTo>
                  <a:lnTo>
                    <a:pt x="0" y="29469"/>
                  </a:lnTo>
                  <a:cubicBezTo>
                    <a:pt x="0" y="21654"/>
                    <a:pt x="3105" y="14158"/>
                    <a:pt x="8631" y="8631"/>
                  </a:cubicBezTo>
                  <a:cubicBezTo>
                    <a:pt x="14158" y="3105"/>
                    <a:pt x="21654" y="0"/>
                    <a:pt x="29469" y="0"/>
                  </a:cubicBezTo>
                  <a:close/>
                </a:path>
              </a:pathLst>
            </a:custGeom>
            <a:solidFill>
              <a:srgbClr val="7B29E8">
                <a:alpha val="95686"/>
              </a:srgbClr>
            </a:solidFill>
          </p:spPr>
        </p:sp>
        <p:sp>
          <p:nvSpPr>
            <p:cNvPr id="12" name="TextBox 12"/>
            <p:cNvSpPr txBox="1"/>
            <p:nvPr/>
          </p:nvSpPr>
          <p:spPr>
            <a:xfrm>
              <a:off x="0" y="-57150"/>
              <a:ext cx="1522207" cy="462237"/>
            </a:xfrm>
            <a:prstGeom prst="rect">
              <a:avLst/>
            </a:prstGeom>
          </p:spPr>
          <p:txBody>
            <a:bodyPr lIns="50800" tIns="50800" rIns="50800" bIns="50800" rtlCol="0" anchor="ctr"/>
            <a:lstStyle/>
            <a:p>
              <a:pPr algn="ctr">
                <a:lnSpc>
                  <a:spcPts val="3079"/>
                </a:lnSpc>
              </a:pPr>
              <a:endParaRPr/>
            </a:p>
          </p:txBody>
        </p:sp>
      </p:grpSp>
      <p:sp>
        <p:nvSpPr>
          <p:cNvPr id="13" name="TextBox 13"/>
          <p:cNvSpPr txBox="1"/>
          <p:nvPr/>
        </p:nvSpPr>
        <p:spPr>
          <a:xfrm>
            <a:off x="10422933" y="1306006"/>
            <a:ext cx="8250051" cy="514349"/>
          </a:xfrm>
          <a:prstGeom prst="rect">
            <a:avLst/>
          </a:prstGeom>
        </p:spPr>
        <p:txBody>
          <a:bodyPr lIns="0" tIns="0" rIns="0" bIns="0" rtlCol="0" anchor="t">
            <a:spAutoFit/>
          </a:bodyPr>
          <a:lstStyle/>
          <a:p>
            <a:pPr algn="l">
              <a:lnSpc>
                <a:spcPts val="4200"/>
              </a:lnSpc>
            </a:pPr>
            <a:r>
              <a:rPr lang="en-US" sz="3000" b="1">
                <a:solidFill>
                  <a:srgbClr val="FFFFFF"/>
                </a:solidFill>
                <a:latin typeface="Canva Sans Bold"/>
                <a:ea typeface="Canva Sans Bold"/>
                <a:cs typeface="Canva Sans Bold"/>
                <a:sym typeface="Canva Sans Bold"/>
              </a:rPr>
              <a:t> Frontend</a:t>
            </a:r>
          </a:p>
        </p:txBody>
      </p:sp>
      <p:sp>
        <p:nvSpPr>
          <p:cNvPr id="14" name="TextBox 14"/>
          <p:cNvSpPr txBox="1"/>
          <p:nvPr/>
        </p:nvSpPr>
        <p:spPr>
          <a:xfrm>
            <a:off x="10402579" y="1534605"/>
            <a:ext cx="7568439" cy="1739265"/>
          </a:xfrm>
          <a:prstGeom prst="rect">
            <a:avLst/>
          </a:prstGeom>
        </p:spPr>
        <p:txBody>
          <a:bodyPr lIns="0" tIns="0" rIns="0" bIns="0" rtlCol="0" anchor="t">
            <a:spAutoFit/>
          </a:bodyPr>
          <a:lstStyle/>
          <a:p>
            <a:pPr algn="l">
              <a:lnSpc>
                <a:spcPts val="2790"/>
              </a:lnSpc>
            </a:pPr>
            <a:endParaRPr/>
          </a:p>
          <a:p>
            <a:pPr marL="388620" lvl="1" indent="-194310" algn="l">
              <a:lnSpc>
                <a:spcPts val="2790"/>
              </a:lnSpc>
              <a:buFont typeface="Arial"/>
              <a:buChar char="•"/>
            </a:pPr>
            <a:r>
              <a:rPr lang="en-US" sz="1800" spc="10">
                <a:solidFill>
                  <a:srgbClr val="FFFFFF"/>
                </a:solidFill>
                <a:latin typeface="DM Sans"/>
                <a:ea typeface="DM Sans"/>
                <a:cs typeface="DM Sans"/>
                <a:sym typeface="DM Sans"/>
              </a:rPr>
              <a:t>React.js + Next.js – Seamless, dynamic UI</a:t>
            </a:r>
          </a:p>
          <a:p>
            <a:pPr marL="388620" lvl="1" indent="-194310" algn="l">
              <a:lnSpc>
                <a:spcPts val="2790"/>
              </a:lnSpc>
              <a:buFont typeface="Arial"/>
              <a:buChar char="•"/>
            </a:pPr>
            <a:r>
              <a:rPr lang="en-US" sz="1800" spc="10">
                <a:solidFill>
                  <a:srgbClr val="FFFFFF"/>
                </a:solidFill>
                <a:latin typeface="DM Sans"/>
                <a:ea typeface="DM Sans"/>
                <a:cs typeface="DM Sans"/>
                <a:sym typeface="DM Sans"/>
              </a:rPr>
              <a:t>Tailwind CSS – For stylish, responsive design</a:t>
            </a:r>
          </a:p>
          <a:p>
            <a:pPr algn="l">
              <a:lnSpc>
                <a:spcPts val="2790"/>
              </a:lnSpc>
            </a:pPr>
            <a:endParaRPr lang="en-US" sz="1800" spc="10">
              <a:solidFill>
                <a:srgbClr val="FFFFFF"/>
              </a:solidFill>
              <a:latin typeface="DM Sans"/>
              <a:ea typeface="DM Sans"/>
              <a:cs typeface="DM Sans"/>
              <a:sym typeface="DM Sans"/>
            </a:endParaRPr>
          </a:p>
          <a:p>
            <a:pPr algn="l">
              <a:lnSpc>
                <a:spcPts val="2790"/>
              </a:lnSpc>
            </a:pPr>
            <a:endParaRPr lang="en-US" sz="1800" spc="10">
              <a:solidFill>
                <a:srgbClr val="FFFFFF"/>
              </a:solidFill>
              <a:latin typeface="DM Sans"/>
              <a:ea typeface="DM Sans"/>
              <a:cs typeface="DM Sans"/>
              <a:sym typeface="DM Sans"/>
            </a:endParaRPr>
          </a:p>
        </p:txBody>
      </p:sp>
      <p:grpSp>
        <p:nvGrpSpPr>
          <p:cNvPr id="15" name="Group 15"/>
          <p:cNvGrpSpPr/>
          <p:nvPr/>
        </p:nvGrpSpPr>
        <p:grpSpPr>
          <a:xfrm>
            <a:off x="564838" y="3643800"/>
            <a:ext cx="5387010" cy="1668264"/>
            <a:chOff x="0" y="0"/>
            <a:chExt cx="1418801" cy="439378"/>
          </a:xfrm>
        </p:grpSpPr>
        <p:sp>
          <p:nvSpPr>
            <p:cNvPr id="16" name="Freeform 16"/>
            <p:cNvSpPr/>
            <p:nvPr/>
          </p:nvSpPr>
          <p:spPr>
            <a:xfrm>
              <a:off x="0" y="0"/>
              <a:ext cx="1418801" cy="439378"/>
            </a:xfrm>
            <a:custGeom>
              <a:avLst/>
              <a:gdLst/>
              <a:ahLst/>
              <a:cxnLst/>
              <a:rect l="l" t="t" r="r" b="b"/>
              <a:pathLst>
                <a:path w="1418801" h="439378">
                  <a:moveTo>
                    <a:pt x="31617" y="0"/>
                  </a:moveTo>
                  <a:lnTo>
                    <a:pt x="1387184" y="0"/>
                  </a:lnTo>
                  <a:cubicBezTo>
                    <a:pt x="1395569" y="0"/>
                    <a:pt x="1403611" y="3331"/>
                    <a:pt x="1409541" y="9260"/>
                  </a:cubicBezTo>
                  <a:cubicBezTo>
                    <a:pt x="1415470" y="15190"/>
                    <a:pt x="1418801" y="23232"/>
                    <a:pt x="1418801" y="31617"/>
                  </a:cubicBezTo>
                  <a:lnTo>
                    <a:pt x="1418801" y="407761"/>
                  </a:lnTo>
                  <a:cubicBezTo>
                    <a:pt x="1418801" y="416146"/>
                    <a:pt x="1415470" y="424188"/>
                    <a:pt x="1409541" y="430118"/>
                  </a:cubicBezTo>
                  <a:cubicBezTo>
                    <a:pt x="1403611" y="436047"/>
                    <a:pt x="1395569" y="439378"/>
                    <a:pt x="1387184" y="439378"/>
                  </a:cubicBezTo>
                  <a:lnTo>
                    <a:pt x="31617" y="439378"/>
                  </a:lnTo>
                  <a:cubicBezTo>
                    <a:pt x="23232" y="439378"/>
                    <a:pt x="15190" y="436047"/>
                    <a:pt x="9260" y="430118"/>
                  </a:cubicBezTo>
                  <a:cubicBezTo>
                    <a:pt x="3331" y="424188"/>
                    <a:pt x="0" y="416146"/>
                    <a:pt x="0" y="407761"/>
                  </a:cubicBezTo>
                  <a:lnTo>
                    <a:pt x="0" y="31617"/>
                  </a:lnTo>
                  <a:cubicBezTo>
                    <a:pt x="0" y="23232"/>
                    <a:pt x="3331" y="15190"/>
                    <a:pt x="9260" y="9260"/>
                  </a:cubicBezTo>
                  <a:cubicBezTo>
                    <a:pt x="15190" y="3331"/>
                    <a:pt x="23232" y="0"/>
                    <a:pt x="31617" y="0"/>
                  </a:cubicBezTo>
                  <a:close/>
                </a:path>
              </a:pathLst>
            </a:custGeom>
            <a:solidFill>
              <a:srgbClr val="7B29E8">
                <a:alpha val="95686"/>
              </a:srgbClr>
            </a:solidFill>
          </p:spPr>
        </p:sp>
        <p:sp>
          <p:nvSpPr>
            <p:cNvPr id="17" name="TextBox 17"/>
            <p:cNvSpPr txBox="1"/>
            <p:nvPr/>
          </p:nvSpPr>
          <p:spPr>
            <a:xfrm>
              <a:off x="0" y="-57150"/>
              <a:ext cx="1418801" cy="496528"/>
            </a:xfrm>
            <a:prstGeom prst="rect">
              <a:avLst/>
            </a:prstGeom>
          </p:spPr>
          <p:txBody>
            <a:bodyPr lIns="50800" tIns="50800" rIns="50800" bIns="50800" rtlCol="0" anchor="ctr"/>
            <a:lstStyle/>
            <a:p>
              <a:pPr algn="ctr">
                <a:lnSpc>
                  <a:spcPts val="3079"/>
                </a:lnSpc>
              </a:pPr>
              <a:endParaRPr/>
            </a:p>
          </p:txBody>
        </p:sp>
      </p:grpSp>
      <p:sp>
        <p:nvSpPr>
          <p:cNvPr id="18" name="TextBox 18"/>
          <p:cNvSpPr txBox="1"/>
          <p:nvPr/>
        </p:nvSpPr>
        <p:spPr>
          <a:xfrm>
            <a:off x="594689" y="4316083"/>
            <a:ext cx="7568439" cy="1386840"/>
          </a:xfrm>
          <a:prstGeom prst="rect">
            <a:avLst/>
          </a:prstGeom>
        </p:spPr>
        <p:txBody>
          <a:bodyPr lIns="0" tIns="0" rIns="0" bIns="0" rtlCol="0" anchor="t">
            <a:spAutoFit/>
          </a:bodyPr>
          <a:lstStyle/>
          <a:p>
            <a:pPr marL="388620" lvl="1" indent="-194310" algn="l">
              <a:lnSpc>
                <a:spcPts val="2790"/>
              </a:lnSpc>
              <a:buFont typeface="Arial"/>
              <a:buChar char="•"/>
            </a:pPr>
            <a:r>
              <a:rPr lang="en-US" sz="1800" spc="10" dirty="0">
                <a:solidFill>
                  <a:srgbClr val="FFFFFF"/>
                </a:solidFill>
                <a:latin typeface="DM Sans"/>
                <a:ea typeface="DM Sans"/>
                <a:cs typeface="DM Sans"/>
                <a:sym typeface="DM Sans"/>
              </a:rPr>
              <a:t>Python + Flask – Fast, flexible backend APIs</a:t>
            </a:r>
          </a:p>
          <a:p>
            <a:pPr marL="388620" lvl="1" indent="-194310" algn="l">
              <a:lnSpc>
                <a:spcPts val="2790"/>
              </a:lnSpc>
              <a:buFont typeface="Arial"/>
              <a:buChar char="•"/>
            </a:pPr>
            <a:r>
              <a:rPr lang="en-US" sz="1800" spc="10" dirty="0">
                <a:solidFill>
                  <a:srgbClr val="FFFFFF"/>
                </a:solidFill>
                <a:latin typeface="DM Sans"/>
                <a:ea typeface="DM Sans"/>
                <a:cs typeface="DM Sans"/>
                <a:sym typeface="DM Sans"/>
              </a:rPr>
              <a:t>REST API – For data and model integration</a:t>
            </a:r>
          </a:p>
          <a:p>
            <a:pPr algn="l">
              <a:lnSpc>
                <a:spcPts val="2790"/>
              </a:lnSpc>
            </a:pPr>
            <a:endParaRPr lang="en-US" sz="1800" spc="10" dirty="0">
              <a:solidFill>
                <a:srgbClr val="FFFFFF"/>
              </a:solidFill>
              <a:latin typeface="DM Sans"/>
              <a:ea typeface="DM Sans"/>
              <a:cs typeface="DM Sans"/>
              <a:sym typeface="DM Sans"/>
            </a:endParaRPr>
          </a:p>
          <a:p>
            <a:pPr algn="l">
              <a:lnSpc>
                <a:spcPts val="2790"/>
              </a:lnSpc>
            </a:pPr>
            <a:endParaRPr lang="en-US" sz="1800" spc="10" dirty="0">
              <a:solidFill>
                <a:srgbClr val="FFFFFF"/>
              </a:solidFill>
              <a:latin typeface="DM Sans"/>
              <a:ea typeface="DM Sans"/>
              <a:cs typeface="DM Sans"/>
              <a:sym typeface="DM Sans"/>
            </a:endParaRPr>
          </a:p>
        </p:txBody>
      </p:sp>
      <p:sp>
        <p:nvSpPr>
          <p:cNvPr id="19" name="TextBox 19"/>
          <p:cNvSpPr txBox="1"/>
          <p:nvPr/>
        </p:nvSpPr>
        <p:spPr>
          <a:xfrm>
            <a:off x="-3182322" y="3636344"/>
            <a:ext cx="9539736" cy="514349"/>
          </a:xfrm>
          <a:prstGeom prst="rect">
            <a:avLst/>
          </a:prstGeom>
        </p:spPr>
        <p:txBody>
          <a:bodyPr lIns="0" tIns="0" rIns="0" bIns="0" rtlCol="0" anchor="t">
            <a:spAutoFit/>
          </a:bodyPr>
          <a:lstStyle/>
          <a:p>
            <a:pPr algn="ctr">
              <a:lnSpc>
                <a:spcPts val="4200"/>
              </a:lnSpc>
            </a:pPr>
            <a:r>
              <a:rPr lang="en-US" sz="3000" b="1">
                <a:solidFill>
                  <a:srgbClr val="FFFFFF"/>
                </a:solidFill>
                <a:latin typeface="Canva Sans Bold"/>
                <a:ea typeface="Canva Sans Bold"/>
                <a:cs typeface="Canva Sans Bold"/>
                <a:sym typeface="Canva Sans Bold"/>
              </a:rPr>
              <a:t> Backend</a:t>
            </a:r>
          </a:p>
        </p:txBody>
      </p:sp>
      <p:grpSp>
        <p:nvGrpSpPr>
          <p:cNvPr id="20" name="Group 20"/>
          <p:cNvGrpSpPr/>
          <p:nvPr/>
        </p:nvGrpSpPr>
        <p:grpSpPr>
          <a:xfrm>
            <a:off x="496723" y="6155452"/>
            <a:ext cx="9120964" cy="2903993"/>
            <a:chOff x="0" y="0"/>
            <a:chExt cx="2402229" cy="764838"/>
          </a:xfrm>
        </p:grpSpPr>
        <p:sp>
          <p:nvSpPr>
            <p:cNvPr id="21" name="Freeform 21"/>
            <p:cNvSpPr/>
            <p:nvPr/>
          </p:nvSpPr>
          <p:spPr>
            <a:xfrm>
              <a:off x="0" y="0"/>
              <a:ext cx="2402229" cy="764838"/>
            </a:xfrm>
            <a:custGeom>
              <a:avLst/>
              <a:gdLst/>
              <a:ahLst/>
              <a:cxnLst/>
              <a:rect l="l" t="t" r="r" b="b"/>
              <a:pathLst>
                <a:path w="2402229" h="764838">
                  <a:moveTo>
                    <a:pt x="18674" y="0"/>
                  </a:moveTo>
                  <a:lnTo>
                    <a:pt x="2383555" y="0"/>
                  </a:lnTo>
                  <a:cubicBezTo>
                    <a:pt x="2388508" y="0"/>
                    <a:pt x="2393258" y="1967"/>
                    <a:pt x="2396760" y="5469"/>
                  </a:cubicBezTo>
                  <a:cubicBezTo>
                    <a:pt x="2400262" y="8971"/>
                    <a:pt x="2402229" y="13721"/>
                    <a:pt x="2402229" y="18674"/>
                  </a:cubicBezTo>
                  <a:lnTo>
                    <a:pt x="2402229" y="746164"/>
                  </a:lnTo>
                  <a:cubicBezTo>
                    <a:pt x="2402229" y="756477"/>
                    <a:pt x="2393869" y="764838"/>
                    <a:pt x="2383555" y="764838"/>
                  </a:cubicBezTo>
                  <a:lnTo>
                    <a:pt x="18674" y="764838"/>
                  </a:lnTo>
                  <a:cubicBezTo>
                    <a:pt x="13721" y="764838"/>
                    <a:pt x="8971" y="762870"/>
                    <a:pt x="5469" y="759368"/>
                  </a:cubicBezTo>
                  <a:cubicBezTo>
                    <a:pt x="1967" y="755866"/>
                    <a:pt x="0" y="751116"/>
                    <a:pt x="0" y="746164"/>
                  </a:cubicBezTo>
                  <a:lnTo>
                    <a:pt x="0" y="18674"/>
                  </a:lnTo>
                  <a:cubicBezTo>
                    <a:pt x="0" y="8361"/>
                    <a:pt x="8361" y="0"/>
                    <a:pt x="18674" y="0"/>
                  </a:cubicBezTo>
                  <a:close/>
                </a:path>
              </a:pathLst>
            </a:custGeom>
            <a:solidFill>
              <a:srgbClr val="7B29E8">
                <a:alpha val="95686"/>
              </a:srgbClr>
            </a:solidFill>
          </p:spPr>
        </p:sp>
        <p:sp>
          <p:nvSpPr>
            <p:cNvPr id="22" name="TextBox 22"/>
            <p:cNvSpPr txBox="1"/>
            <p:nvPr/>
          </p:nvSpPr>
          <p:spPr>
            <a:xfrm>
              <a:off x="0" y="-57150"/>
              <a:ext cx="2402229" cy="821988"/>
            </a:xfrm>
            <a:prstGeom prst="rect">
              <a:avLst/>
            </a:prstGeom>
          </p:spPr>
          <p:txBody>
            <a:bodyPr lIns="50800" tIns="50800" rIns="50800" bIns="50800" rtlCol="0" anchor="ctr"/>
            <a:lstStyle/>
            <a:p>
              <a:pPr algn="ctr">
                <a:lnSpc>
                  <a:spcPts val="3079"/>
                </a:lnSpc>
              </a:pPr>
              <a:endParaRPr/>
            </a:p>
          </p:txBody>
        </p:sp>
      </p:grpSp>
      <p:sp>
        <p:nvSpPr>
          <p:cNvPr id="23" name="TextBox 23"/>
          <p:cNvSpPr txBox="1"/>
          <p:nvPr/>
        </p:nvSpPr>
        <p:spPr>
          <a:xfrm>
            <a:off x="455004" y="6615330"/>
            <a:ext cx="8729707" cy="2444115"/>
          </a:xfrm>
          <a:prstGeom prst="rect">
            <a:avLst/>
          </a:prstGeom>
        </p:spPr>
        <p:txBody>
          <a:bodyPr lIns="0" tIns="0" rIns="0" bIns="0" rtlCol="0" anchor="t">
            <a:spAutoFit/>
          </a:bodyPr>
          <a:lstStyle/>
          <a:p>
            <a:pPr algn="l">
              <a:lnSpc>
                <a:spcPts val="2790"/>
              </a:lnSpc>
            </a:pPr>
            <a:endParaRPr/>
          </a:p>
          <a:p>
            <a:pPr marL="388620" lvl="1" indent="-194310" algn="l">
              <a:lnSpc>
                <a:spcPts val="2790"/>
              </a:lnSpc>
              <a:buFont typeface="Arial"/>
              <a:buChar char="•"/>
            </a:pPr>
            <a:r>
              <a:rPr lang="en-US" sz="1800" spc="10">
                <a:solidFill>
                  <a:srgbClr val="FFFFFF"/>
                </a:solidFill>
                <a:latin typeface="DM Sans"/>
                <a:ea typeface="DM Sans"/>
                <a:cs typeface="DM Sans"/>
                <a:sym typeface="DM Sans"/>
              </a:rPr>
              <a:t>RoBERTa (large) – For logical flow &amp; coherence detection</a:t>
            </a:r>
          </a:p>
          <a:p>
            <a:pPr marL="388620" lvl="1" indent="-194310" algn="l">
              <a:lnSpc>
                <a:spcPts val="2790"/>
              </a:lnSpc>
              <a:buFont typeface="Arial"/>
              <a:buChar char="•"/>
            </a:pPr>
            <a:r>
              <a:rPr lang="en-US" sz="1800" spc="10">
                <a:solidFill>
                  <a:srgbClr val="FFFFFF"/>
                </a:solidFill>
                <a:latin typeface="DM Sans"/>
                <a:ea typeface="DM Sans"/>
                <a:cs typeface="DM Sans"/>
                <a:sym typeface="DM Sans"/>
              </a:rPr>
              <a:t>XGBoost (XGB) – For fluency classification (Randomized CV model, 93% F1)</a:t>
            </a:r>
          </a:p>
          <a:p>
            <a:pPr marL="388620" lvl="1" indent="-194310" algn="l">
              <a:lnSpc>
                <a:spcPts val="2790"/>
              </a:lnSpc>
              <a:buFont typeface="Arial"/>
              <a:buChar char="•"/>
            </a:pPr>
            <a:r>
              <a:rPr lang="en-US" sz="1800" spc="10">
                <a:solidFill>
                  <a:srgbClr val="FFFFFF"/>
                </a:solidFill>
                <a:latin typeface="DM Sans"/>
                <a:ea typeface="DM Sans"/>
                <a:cs typeface="DM Sans"/>
                <a:sym typeface="DM Sans"/>
              </a:rPr>
              <a:t>SVM – For classification tasks</a:t>
            </a:r>
          </a:p>
          <a:p>
            <a:pPr marL="388620" lvl="1" indent="-194310" algn="l">
              <a:lnSpc>
                <a:spcPts val="2790"/>
              </a:lnSpc>
              <a:buFont typeface="Arial"/>
              <a:buChar char="•"/>
            </a:pPr>
            <a:r>
              <a:rPr lang="en-US" sz="1800" spc="10">
                <a:solidFill>
                  <a:srgbClr val="FFFFFF"/>
                </a:solidFill>
                <a:latin typeface="DM Sans"/>
                <a:ea typeface="DM Sans"/>
                <a:cs typeface="DM Sans"/>
                <a:sym typeface="DM Sans"/>
              </a:rPr>
              <a:t>Torch – For model development</a:t>
            </a:r>
          </a:p>
          <a:p>
            <a:pPr marL="388620" lvl="1" indent="-194310" algn="l">
              <a:lnSpc>
                <a:spcPts val="2790"/>
              </a:lnSpc>
              <a:buFont typeface="Arial"/>
              <a:buChar char="•"/>
            </a:pPr>
            <a:r>
              <a:rPr lang="en-US" sz="1800" spc="10">
                <a:solidFill>
                  <a:srgbClr val="FFFFFF"/>
                </a:solidFill>
                <a:latin typeface="DM Sans"/>
                <a:ea typeface="DM Sans"/>
                <a:cs typeface="DM Sans"/>
                <a:sym typeface="DM Sans"/>
              </a:rPr>
              <a:t>MLP + Embeddings – For tonality prediction</a:t>
            </a:r>
          </a:p>
          <a:p>
            <a:pPr algn="l">
              <a:lnSpc>
                <a:spcPts val="2790"/>
              </a:lnSpc>
            </a:pPr>
            <a:endParaRPr lang="en-US" sz="1800" spc="10">
              <a:solidFill>
                <a:srgbClr val="FFFFFF"/>
              </a:solidFill>
              <a:latin typeface="DM Sans"/>
              <a:ea typeface="DM Sans"/>
              <a:cs typeface="DM Sans"/>
              <a:sym typeface="DM Sans"/>
            </a:endParaRPr>
          </a:p>
        </p:txBody>
      </p:sp>
      <p:sp>
        <p:nvSpPr>
          <p:cNvPr id="24" name="TextBox 24"/>
          <p:cNvSpPr txBox="1"/>
          <p:nvPr/>
        </p:nvSpPr>
        <p:spPr>
          <a:xfrm>
            <a:off x="-1607091" y="6217544"/>
            <a:ext cx="5965031" cy="514349"/>
          </a:xfrm>
          <a:prstGeom prst="rect">
            <a:avLst/>
          </a:prstGeom>
        </p:spPr>
        <p:txBody>
          <a:bodyPr lIns="0" tIns="0" rIns="0" bIns="0" rtlCol="0" anchor="t">
            <a:spAutoFit/>
          </a:bodyPr>
          <a:lstStyle/>
          <a:p>
            <a:pPr algn="ctr">
              <a:lnSpc>
                <a:spcPts val="4200"/>
              </a:lnSpc>
            </a:pPr>
            <a:r>
              <a:rPr lang="en-US" sz="3000" b="1">
                <a:solidFill>
                  <a:srgbClr val="FFFFFF"/>
                </a:solidFill>
                <a:latin typeface="Canva Sans Bold"/>
                <a:ea typeface="Canva Sans Bold"/>
                <a:cs typeface="Canva Sans Bold"/>
                <a:sym typeface="Canva Sans Bold"/>
              </a:rPr>
              <a:t>AI/ML</a:t>
            </a:r>
          </a:p>
        </p:txBody>
      </p:sp>
      <p:grpSp>
        <p:nvGrpSpPr>
          <p:cNvPr id="25" name="Group 25"/>
          <p:cNvGrpSpPr/>
          <p:nvPr/>
        </p:nvGrpSpPr>
        <p:grpSpPr>
          <a:xfrm>
            <a:off x="11083715" y="3661827"/>
            <a:ext cx="6596701" cy="1821391"/>
            <a:chOff x="0" y="0"/>
            <a:chExt cx="1737403" cy="479708"/>
          </a:xfrm>
        </p:grpSpPr>
        <p:sp>
          <p:nvSpPr>
            <p:cNvPr id="26" name="Freeform 26"/>
            <p:cNvSpPr/>
            <p:nvPr/>
          </p:nvSpPr>
          <p:spPr>
            <a:xfrm>
              <a:off x="0" y="0"/>
              <a:ext cx="1737403" cy="479708"/>
            </a:xfrm>
            <a:custGeom>
              <a:avLst/>
              <a:gdLst/>
              <a:ahLst/>
              <a:cxnLst/>
              <a:rect l="l" t="t" r="r" b="b"/>
              <a:pathLst>
                <a:path w="1737403" h="479708">
                  <a:moveTo>
                    <a:pt x="25819" y="0"/>
                  </a:moveTo>
                  <a:lnTo>
                    <a:pt x="1711583" y="0"/>
                  </a:lnTo>
                  <a:cubicBezTo>
                    <a:pt x="1718431" y="0"/>
                    <a:pt x="1724998" y="2720"/>
                    <a:pt x="1729840" y="7562"/>
                  </a:cubicBezTo>
                  <a:cubicBezTo>
                    <a:pt x="1734682" y="12404"/>
                    <a:pt x="1737403" y="18972"/>
                    <a:pt x="1737403" y="25819"/>
                  </a:cubicBezTo>
                  <a:lnTo>
                    <a:pt x="1737403" y="453889"/>
                  </a:lnTo>
                  <a:cubicBezTo>
                    <a:pt x="1737403" y="468148"/>
                    <a:pt x="1725843" y="479708"/>
                    <a:pt x="1711583" y="479708"/>
                  </a:cubicBezTo>
                  <a:lnTo>
                    <a:pt x="25819" y="479708"/>
                  </a:lnTo>
                  <a:cubicBezTo>
                    <a:pt x="11560" y="479708"/>
                    <a:pt x="0" y="468148"/>
                    <a:pt x="0" y="453889"/>
                  </a:cubicBezTo>
                  <a:lnTo>
                    <a:pt x="0" y="25819"/>
                  </a:lnTo>
                  <a:cubicBezTo>
                    <a:pt x="0" y="11560"/>
                    <a:pt x="11560" y="0"/>
                    <a:pt x="25819" y="0"/>
                  </a:cubicBezTo>
                  <a:close/>
                </a:path>
              </a:pathLst>
            </a:custGeom>
            <a:solidFill>
              <a:srgbClr val="7B29E8">
                <a:alpha val="95686"/>
              </a:srgbClr>
            </a:solidFill>
          </p:spPr>
        </p:sp>
        <p:sp>
          <p:nvSpPr>
            <p:cNvPr id="27" name="TextBox 27"/>
            <p:cNvSpPr txBox="1"/>
            <p:nvPr/>
          </p:nvSpPr>
          <p:spPr>
            <a:xfrm>
              <a:off x="0" y="-57150"/>
              <a:ext cx="1737403" cy="536858"/>
            </a:xfrm>
            <a:prstGeom prst="rect">
              <a:avLst/>
            </a:prstGeom>
          </p:spPr>
          <p:txBody>
            <a:bodyPr lIns="50800" tIns="50800" rIns="50800" bIns="50800" rtlCol="0" anchor="ctr"/>
            <a:lstStyle/>
            <a:p>
              <a:pPr algn="ctr">
                <a:lnSpc>
                  <a:spcPts val="3079"/>
                </a:lnSpc>
              </a:pPr>
              <a:endParaRPr/>
            </a:p>
          </p:txBody>
        </p:sp>
      </p:grpSp>
      <p:sp>
        <p:nvSpPr>
          <p:cNvPr id="28" name="TextBox 28"/>
          <p:cNvSpPr txBox="1"/>
          <p:nvPr/>
        </p:nvSpPr>
        <p:spPr>
          <a:xfrm>
            <a:off x="10424885" y="3867779"/>
            <a:ext cx="6228450" cy="514349"/>
          </a:xfrm>
          <a:prstGeom prst="rect">
            <a:avLst/>
          </a:prstGeom>
        </p:spPr>
        <p:txBody>
          <a:bodyPr lIns="0" tIns="0" rIns="0" bIns="0" rtlCol="0" anchor="t">
            <a:spAutoFit/>
          </a:bodyPr>
          <a:lstStyle/>
          <a:p>
            <a:pPr algn="ctr">
              <a:lnSpc>
                <a:spcPts val="4200"/>
              </a:lnSpc>
            </a:pPr>
            <a:r>
              <a:rPr lang="en-US" sz="3000" b="1">
                <a:solidFill>
                  <a:srgbClr val="FFFFFF"/>
                </a:solidFill>
                <a:latin typeface="Canva Sans Bold"/>
                <a:ea typeface="Canva Sans Bold"/>
                <a:cs typeface="Canva Sans Bold"/>
                <a:sym typeface="Canva Sans Bold"/>
              </a:rPr>
              <a:t>Audio Signal Processing</a:t>
            </a:r>
          </a:p>
        </p:txBody>
      </p:sp>
      <p:sp>
        <p:nvSpPr>
          <p:cNvPr id="29" name="TextBox 29"/>
          <p:cNvSpPr txBox="1"/>
          <p:nvPr/>
        </p:nvSpPr>
        <p:spPr>
          <a:xfrm>
            <a:off x="11083715" y="4096378"/>
            <a:ext cx="7568439" cy="1386840"/>
          </a:xfrm>
          <a:prstGeom prst="rect">
            <a:avLst/>
          </a:prstGeom>
        </p:spPr>
        <p:txBody>
          <a:bodyPr lIns="0" tIns="0" rIns="0" bIns="0" rtlCol="0" anchor="t">
            <a:spAutoFit/>
          </a:bodyPr>
          <a:lstStyle/>
          <a:p>
            <a:pPr algn="l">
              <a:lnSpc>
                <a:spcPts val="2790"/>
              </a:lnSpc>
            </a:pPr>
            <a:endParaRPr/>
          </a:p>
          <a:p>
            <a:pPr marL="388620" lvl="1" indent="-194310" algn="l">
              <a:lnSpc>
                <a:spcPts val="2790"/>
              </a:lnSpc>
              <a:buFont typeface="Arial"/>
              <a:buChar char="•"/>
            </a:pPr>
            <a:r>
              <a:rPr lang="en-US" sz="1800" spc="10">
                <a:solidFill>
                  <a:srgbClr val="FFFFFF"/>
                </a:solidFill>
                <a:latin typeface="DM Sans"/>
                <a:ea typeface="DM Sans"/>
                <a:cs typeface="DM Sans"/>
                <a:sym typeface="DM Sans"/>
              </a:rPr>
              <a:t>Librosa – Feature extraction (WPM, ZCR, MFCC, etc.)</a:t>
            </a:r>
          </a:p>
          <a:p>
            <a:pPr marL="388620" lvl="1" indent="-194310" algn="l">
              <a:lnSpc>
                <a:spcPts val="2790"/>
              </a:lnSpc>
              <a:buFont typeface="Arial"/>
              <a:buChar char="•"/>
            </a:pPr>
            <a:r>
              <a:rPr lang="en-US" sz="1800" spc="10">
                <a:solidFill>
                  <a:srgbClr val="FFFFFF"/>
                </a:solidFill>
                <a:latin typeface="DM Sans"/>
                <a:ea typeface="DM Sans"/>
                <a:cs typeface="DM Sans"/>
                <a:sym typeface="DM Sans"/>
              </a:rPr>
              <a:t>Neuphonic – For enhanced speech signal analysis</a:t>
            </a:r>
          </a:p>
          <a:p>
            <a:pPr algn="l">
              <a:lnSpc>
                <a:spcPts val="2790"/>
              </a:lnSpc>
            </a:pPr>
            <a:endParaRPr lang="en-US" sz="1800" spc="10">
              <a:solidFill>
                <a:srgbClr val="FFFFFF"/>
              </a:solidFill>
              <a:latin typeface="DM Sans"/>
              <a:ea typeface="DM Sans"/>
              <a:cs typeface="DM Sans"/>
              <a:sym typeface="DM Sans"/>
            </a:endParaRPr>
          </a:p>
        </p:txBody>
      </p:sp>
      <p:grpSp>
        <p:nvGrpSpPr>
          <p:cNvPr id="30" name="Group 30"/>
          <p:cNvGrpSpPr/>
          <p:nvPr/>
        </p:nvGrpSpPr>
        <p:grpSpPr>
          <a:xfrm>
            <a:off x="9721444" y="6464293"/>
            <a:ext cx="8478424" cy="1884826"/>
            <a:chOff x="0" y="0"/>
            <a:chExt cx="2233001" cy="496415"/>
          </a:xfrm>
        </p:grpSpPr>
        <p:sp>
          <p:nvSpPr>
            <p:cNvPr id="31" name="Freeform 31"/>
            <p:cNvSpPr/>
            <p:nvPr/>
          </p:nvSpPr>
          <p:spPr>
            <a:xfrm>
              <a:off x="0" y="0"/>
              <a:ext cx="2233001" cy="496415"/>
            </a:xfrm>
            <a:custGeom>
              <a:avLst/>
              <a:gdLst/>
              <a:ahLst/>
              <a:cxnLst/>
              <a:rect l="l" t="t" r="r" b="b"/>
              <a:pathLst>
                <a:path w="2233001" h="496415">
                  <a:moveTo>
                    <a:pt x="20089" y="0"/>
                  </a:moveTo>
                  <a:lnTo>
                    <a:pt x="2212912" y="0"/>
                  </a:lnTo>
                  <a:cubicBezTo>
                    <a:pt x="2224006" y="0"/>
                    <a:pt x="2233001" y="8994"/>
                    <a:pt x="2233001" y="20089"/>
                  </a:cubicBezTo>
                  <a:lnTo>
                    <a:pt x="2233001" y="476326"/>
                  </a:lnTo>
                  <a:cubicBezTo>
                    <a:pt x="2233001" y="487421"/>
                    <a:pt x="2224006" y="496415"/>
                    <a:pt x="2212912" y="496415"/>
                  </a:cubicBezTo>
                  <a:lnTo>
                    <a:pt x="20089" y="496415"/>
                  </a:lnTo>
                  <a:cubicBezTo>
                    <a:pt x="14761" y="496415"/>
                    <a:pt x="9651" y="494298"/>
                    <a:pt x="5884" y="490531"/>
                  </a:cubicBezTo>
                  <a:cubicBezTo>
                    <a:pt x="2117" y="486764"/>
                    <a:pt x="0" y="481654"/>
                    <a:pt x="0" y="476326"/>
                  </a:cubicBezTo>
                  <a:lnTo>
                    <a:pt x="0" y="20089"/>
                  </a:lnTo>
                  <a:cubicBezTo>
                    <a:pt x="0" y="8994"/>
                    <a:pt x="8994" y="0"/>
                    <a:pt x="20089" y="0"/>
                  </a:cubicBezTo>
                  <a:close/>
                </a:path>
              </a:pathLst>
            </a:custGeom>
            <a:solidFill>
              <a:srgbClr val="7B29E8">
                <a:alpha val="95686"/>
              </a:srgbClr>
            </a:solidFill>
          </p:spPr>
        </p:sp>
        <p:sp>
          <p:nvSpPr>
            <p:cNvPr id="32" name="TextBox 32"/>
            <p:cNvSpPr txBox="1"/>
            <p:nvPr/>
          </p:nvSpPr>
          <p:spPr>
            <a:xfrm>
              <a:off x="0" y="-57150"/>
              <a:ext cx="2233001" cy="553565"/>
            </a:xfrm>
            <a:prstGeom prst="rect">
              <a:avLst/>
            </a:prstGeom>
          </p:spPr>
          <p:txBody>
            <a:bodyPr lIns="50800" tIns="50800" rIns="50800" bIns="50800" rtlCol="0" anchor="ctr"/>
            <a:lstStyle/>
            <a:p>
              <a:pPr algn="ctr">
                <a:lnSpc>
                  <a:spcPts val="3079"/>
                </a:lnSpc>
              </a:pPr>
              <a:endParaRPr/>
            </a:p>
          </p:txBody>
        </p:sp>
      </p:grpSp>
      <p:sp>
        <p:nvSpPr>
          <p:cNvPr id="33" name="TextBox 33"/>
          <p:cNvSpPr txBox="1"/>
          <p:nvPr/>
        </p:nvSpPr>
        <p:spPr>
          <a:xfrm>
            <a:off x="9721444" y="7132800"/>
            <a:ext cx="8930711" cy="1034415"/>
          </a:xfrm>
          <a:prstGeom prst="rect">
            <a:avLst/>
          </a:prstGeom>
        </p:spPr>
        <p:txBody>
          <a:bodyPr lIns="0" tIns="0" rIns="0" bIns="0" rtlCol="0" anchor="t">
            <a:spAutoFit/>
          </a:bodyPr>
          <a:lstStyle/>
          <a:p>
            <a:pPr marL="388620" lvl="1" indent="-194310" algn="l">
              <a:lnSpc>
                <a:spcPts val="2790"/>
              </a:lnSpc>
              <a:buFont typeface="Arial"/>
              <a:buChar char="•"/>
            </a:pPr>
            <a:r>
              <a:rPr lang="en-US" sz="1800" spc="10">
                <a:solidFill>
                  <a:srgbClr val="FFFFFF"/>
                </a:solidFill>
                <a:latin typeface="DM Sans"/>
                <a:ea typeface="DM Sans"/>
                <a:cs typeface="DM Sans"/>
                <a:sym typeface="DM Sans"/>
              </a:rPr>
              <a:t>NLTK – For lexical density, filler word detection, vocabulary sophistication</a:t>
            </a:r>
          </a:p>
          <a:p>
            <a:pPr marL="388620" lvl="1" indent="-194310" algn="l">
              <a:lnSpc>
                <a:spcPts val="2790"/>
              </a:lnSpc>
              <a:buFont typeface="Arial"/>
              <a:buChar char="•"/>
            </a:pPr>
            <a:r>
              <a:rPr lang="en-US" sz="1800" spc="10">
                <a:solidFill>
                  <a:srgbClr val="FFFFFF"/>
                </a:solidFill>
                <a:latin typeface="DM Sans"/>
                <a:ea typeface="DM Sans"/>
                <a:cs typeface="DM Sans"/>
                <a:sym typeface="DM Sans"/>
              </a:rPr>
              <a:t>re (regex) – For text cleaning and filler word frequency analysis</a:t>
            </a:r>
          </a:p>
          <a:p>
            <a:pPr algn="l">
              <a:lnSpc>
                <a:spcPts val="2790"/>
              </a:lnSpc>
            </a:pPr>
            <a:endParaRPr lang="en-US" sz="1800" spc="10">
              <a:solidFill>
                <a:srgbClr val="FFFFFF"/>
              </a:solidFill>
              <a:latin typeface="DM Sans"/>
              <a:ea typeface="DM Sans"/>
              <a:cs typeface="DM Sans"/>
              <a:sym typeface="DM Sans"/>
            </a:endParaRPr>
          </a:p>
        </p:txBody>
      </p:sp>
      <p:sp>
        <p:nvSpPr>
          <p:cNvPr id="34" name="TextBox 34"/>
          <p:cNvSpPr txBox="1"/>
          <p:nvPr/>
        </p:nvSpPr>
        <p:spPr>
          <a:xfrm>
            <a:off x="7806293" y="6407143"/>
            <a:ext cx="9539736" cy="514349"/>
          </a:xfrm>
          <a:prstGeom prst="rect">
            <a:avLst/>
          </a:prstGeom>
        </p:spPr>
        <p:txBody>
          <a:bodyPr lIns="0" tIns="0" rIns="0" bIns="0" rtlCol="0" anchor="t">
            <a:spAutoFit/>
          </a:bodyPr>
          <a:lstStyle/>
          <a:p>
            <a:pPr algn="ctr">
              <a:lnSpc>
                <a:spcPts val="4200"/>
              </a:lnSpc>
            </a:pPr>
            <a:r>
              <a:rPr lang="en-US" sz="3000" b="1">
                <a:solidFill>
                  <a:srgbClr val="FFFFFF"/>
                </a:solidFill>
                <a:latin typeface="Canva Sans Bold"/>
                <a:ea typeface="Canva Sans Bold"/>
                <a:cs typeface="Canva Sans Bold"/>
                <a:sym typeface="Canva Sans Bold"/>
              </a:rPr>
              <a:t>Natural Language Processing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2568" y="480424"/>
            <a:ext cx="419030" cy="433666"/>
          </a:xfrm>
          <a:custGeom>
            <a:avLst/>
            <a:gdLst/>
            <a:ahLst/>
            <a:cxnLst/>
            <a:rect l="l" t="t" r="r" b="b"/>
            <a:pathLst>
              <a:path w="419030" h="433666">
                <a:moveTo>
                  <a:pt x="0" y="0"/>
                </a:moveTo>
                <a:lnTo>
                  <a:pt x="419030" y="0"/>
                </a:lnTo>
                <a:lnTo>
                  <a:pt x="419030" y="433667"/>
                </a:lnTo>
                <a:lnTo>
                  <a:pt x="0" y="4336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174993" y="472785"/>
            <a:ext cx="2101607" cy="774636"/>
          </a:xfrm>
          <a:prstGeom prst="rect">
            <a:avLst/>
          </a:prstGeom>
        </p:spPr>
        <p:txBody>
          <a:bodyPr wrap="square" lIns="0" tIns="0" rIns="0" bIns="0" rtlCol="0" anchor="t">
            <a:spAutoFit/>
          </a:bodyPr>
          <a:lstStyle/>
          <a:p>
            <a:pPr>
              <a:lnSpc>
                <a:spcPts val="3079"/>
              </a:lnSpc>
              <a:spcBef>
                <a:spcPct val="0"/>
              </a:spcBef>
            </a:pPr>
            <a:r>
              <a:rPr lang="en-IN" sz="2400" b="0" i="0" dirty="0" err="1">
                <a:solidFill>
                  <a:srgbClr val="1F1F1F"/>
                </a:solidFill>
                <a:effectLst/>
                <a:latin typeface="Google Sans"/>
              </a:rPr>
              <a:t>IntelliHack</a:t>
            </a:r>
            <a:r>
              <a:rPr lang="en-IN" sz="2400" b="0" i="0" dirty="0">
                <a:solidFill>
                  <a:srgbClr val="1F1F1F"/>
                </a:solidFill>
                <a:effectLst/>
                <a:latin typeface="Google Sans"/>
              </a:rPr>
              <a:t> SRM</a:t>
            </a:r>
            <a:endParaRPr lang="en-US" sz="2400" dirty="0">
              <a:solidFill>
                <a:srgbClr val="0D0D0D"/>
              </a:solidFill>
              <a:latin typeface="Poppins"/>
              <a:ea typeface="Poppins"/>
              <a:cs typeface="Poppins"/>
              <a:sym typeface="Poppins"/>
            </a:endParaRPr>
          </a:p>
          <a:p>
            <a:pPr algn="l">
              <a:lnSpc>
                <a:spcPts val="3079"/>
              </a:lnSpc>
              <a:spcBef>
                <a:spcPct val="0"/>
              </a:spcBef>
            </a:pPr>
            <a:endParaRPr lang="en-US" sz="2400" dirty="0">
              <a:solidFill>
                <a:srgbClr val="0D0D0D"/>
              </a:solidFill>
              <a:latin typeface="Poppins"/>
              <a:ea typeface="Poppins"/>
              <a:cs typeface="Poppins"/>
              <a:sym typeface="Poppins"/>
            </a:endParaRPr>
          </a:p>
        </p:txBody>
      </p:sp>
      <p:pic>
        <p:nvPicPr>
          <p:cNvPr id="6" name="Picture 5">
            <a:extLst>
              <a:ext uri="{FF2B5EF4-FFF2-40B4-BE49-F238E27FC236}">
                <a16:creationId xmlns:a16="http://schemas.microsoft.com/office/drawing/2014/main" id="{68F1B18F-1E19-87C6-3A48-B8C0AD23EC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7135" y="1219200"/>
            <a:ext cx="17793729" cy="9067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2568" y="480424"/>
            <a:ext cx="419030" cy="433666"/>
          </a:xfrm>
          <a:custGeom>
            <a:avLst/>
            <a:gdLst/>
            <a:ahLst/>
            <a:cxnLst/>
            <a:rect l="l" t="t" r="r" b="b"/>
            <a:pathLst>
              <a:path w="419030" h="433666">
                <a:moveTo>
                  <a:pt x="0" y="0"/>
                </a:moveTo>
                <a:lnTo>
                  <a:pt x="419030" y="0"/>
                </a:lnTo>
                <a:lnTo>
                  <a:pt x="419030" y="433667"/>
                </a:lnTo>
                <a:lnTo>
                  <a:pt x="0" y="4336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174993" y="472785"/>
            <a:ext cx="1949207" cy="781881"/>
          </a:xfrm>
          <a:prstGeom prst="rect">
            <a:avLst/>
          </a:prstGeom>
        </p:spPr>
        <p:txBody>
          <a:bodyPr wrap="square" lIns="0" tIns="0" rIns="0" bIns="0" rtlCol="0" anchor="t">
            <a:spAutoFit/>
          </a:bodyPr>
          <a:lstStyle/>
          <a:p>
            <a:pPr>
              <a:lnSpc>
                <a:spcPts val="3079"/>
              </a:lnSpc>
              <a:spcBef>
                <a:spcPct val="0"/>
              </a:spcBef>
            </a:pPr>
            <a:r>
              <a:rPr lang="en-IN" sz="2400" b="0" i="0" dirty="0" err="1">
                <a:solidFill>
                  <a:srgbClr val="1F1F1F"/>
                </a:solidFill>
                <a:effectLst/>
                <a:latin typeface="Google Sans"/>
              </a:rPr>
              <a:t>IntelliHack</a:t>
            </a:r>
            <a:r>
              <a:rPr lang="en-IN" sz="2400" b="0" i="0" dirty="0">
                <a:solidFill>
                  <a:srgbClr val="1F1F1F"/>
                </a:solidFill>
                <a:effectLst/>
                <a:latin typeface="Google Sans"/>
              </a:rPr>
              <a:t> SRM</a:t>
            </a:r>
            <a:endParaRPr lang="en-US" sz="2400" dirty="0">
              <a:solidFill>
                <a:srgbClr val="0D0D0D"/>
              </a:solidFill>
              <a:latin typeface="Poppins"/>
              <a:ea typeface="Poppins"/>
              <a:cs typeface="Poppins"/>
              <a:sym typeface="Poppins"/>
            </a:endParaRPr>
          </a:p>
          <a:p>
            <a:pPr algn="l">
              <a:lnSpc>
                <a:spcPts val="3079"/>
              </a:lnSpc>
              <a:spcBef>
                <a:spcPct val="0"/>
              </a:spcBef>
            </a:pPr>
            <a:endParaRPr lang="en-US" sz="2400" dirty="0">
              <a:solidFill>
                <a:srgbClr val="0D0D0D"/>
              </a:solidFill>
              <a:latin typeface="Poppins"/>
              <a:ea typeface="Poppins"/>
              <a:cs typeface="Poppins"/>
              <a:sym typeface="Poppins"/>
            </a:endParaRPr>
          </a:p>
        </p:txBody>
      </p:sp>
      <p:pic>
        <p:nvPicPr>
          <p:cNvPr id="5" name="Picture 4">
            <a:extLst>
              <a:ext uri="{FF2B5EF4-FFF2-40B4-BE49-F238E27FC236}">
                <a16:creationId xmlns:a16="http://schemas.microsoft.com/office/drawing/2014/main" id="{02463E37-2A96-3749-4A03-386A1135BA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 y="1104900"/>
            <a:ext cx="17688732" cy="9067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083449"/>
            <a:ext cx="442011" cy="612840"/>
          </a:xfrm>
          <a:custGeom>
            <a:avLst/>
            <a:gdLst/>
            <a:ahLst/>
            <a:cxnLst/>
            <a:rect l="l" t="t" r="r" b="b"/>
            <a:pathLst>
              <a:path w="442011" h="612840">
                <a:moveTo>
                  <a:pt x="0" y="0"/>
                </a:moveTo>
                <a:lnTo>
                  <a:pt x="442011" y="0"/>
                </a:lnTo>
                <a:lnTo>
                  <a:pt x="442011" y="612840"/>
                </a:lnTo>
                <a:lnTo>
                  <a:pt x="0" y="6128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686078" y="-1265505"/>
            <a:ext cx="3471862" cy="4114800"/>
          </a:xfrm>
          <a:custGeom>
            <a:avLst/>
            <a:gdLst/>
            <a:ahLst/>
            <a:cxnLst/>
            <a:rect l="l" t="t" r="r" b="b"/>
            <a:pathLst>
              <a:path w="3471862" h="4114800">
                <a:moveTo>
                  <a:pt x="0" y="0"/>
                </a:moveTo>
                <a:lnTo>
                  <a:pt x="3471862" y="0"/>
                </a:lnTo>
                <a:lnTo>
                  <a:pt x="347186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AutoShape 4"/>
          <p:cNvSpPr/>
          <p:nvPr/>
        </p:nvSpPr>
        <p:spPr>
          <a:xfrm>
            <a:off x="6262858" y="1102042"/>
            <a:ext cx="9031836" cy="0"/>
          </a:xfrm>
          <a:prstGeom prst="line">
            <a:avLst/>
          </a:prstGeom>
          <a:ln w="28575" cap="flat">
            <a:solidFill>
              <a:srgbClr val="0D0D0D"/>
            </a:solidFill>
            <a:prstDash val="solid"/>
            <a:headEnd type="none" w="sm" len="sm"/>
            <a:tailEnd type="none" w="sm" len="sm"/>
          </a:ln>
        </p:spPr>
      </p:sp>
      <p:sp>
        <p:nvSpPr>
          <p:cNvPr id="5" name="Freeform 5"/>
          <p:cNvSpPr/>
          <p:nvPr/>
        </p:nvSpPr>
        <p:spPr>
          <a:xfrm>
            <a:off x="1673683" y="885209"/>
            <a:ext cx="419030" cy="433666"/>
          </a:xfrm>
          <a:custGeom>
            <a:avLst/>
            <a:gdLst/>
            <a:ahLst/>
            <a:cxnLst/>
            <a:rect l="l" t="t" r="r" b="b"/>
            <a:pathLst>
              <a:path w="419030" h="433666">
                <a:moveTo>
                  <a:pt x="0" y="0"/>
                </a:moveTo>
                <a:lnTo>
                  <a:pt x="419030" y="0"/>
                </a:lnTo>
                <a:lnTo>
                  <a:pt x="419030" y="433667"/>
                </a:lnTo>
                <a:lnTo>
                  <a:pt x="0" y="43366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1673683" y="2150506"/>
            <a:ext cx="12882547" cy="1091565"/>
          </a:xfrm>
          <a:prstGeom prst="rect">
            <a:avLst/>
          </a:prstGeom>
        </p:spPr>
        <p:txBody>
          <a:bodyPr lIns="0" tIns="0" rIns="0" bIns="0" rtlCol="0" anchor="t">
            <a:spAutoFit/>
          </a:bodyPr>
          <a:lstStyle/>
          <a:p>
            <a:pPr algn="l">
              <a:lnSpc>
                <a:spcPts val="7920"/>
              </a:lnSpc>
            </a:pPr>
            <a:r>
              <a:rPr lang="en-US" sz="7200" b="1">
                <a:solidFill>
                  <a:srgbClr val="000000"/>
                </a:solidFill>
                <a:latin typeface="Poppins Semi-Bold"/>
                <a:ea typeface="Poppins Semi-Bold"/>
                <a:cs typeface="Poppins Semi-Bold"/>
                <a:sym typeface="Poppins Semi-Bold"/>
              </a:rPr>
              <a:t>What’s next for  Voclayst?</a:t>
            </a:r>
          </a:p>
        </p:txBody>
      </p:sp>
      <p:sp>
        <p:nvSpPr>
          <p:cNvPr id="7" name="TextBox 7"/>
          <p:cNvSpPr txBox="1"/>
          <p:nvPr/>
        </p:nvSpPr>
        <p:spPr>
          <a:xfrm>
            <a:off x="2276489" y="876300"/>
            <a:ext cx="1946072" cy="781881"/>
          </a:xfrm>
          <a:prstGeom prst="rect">
            <a:avLst/>
          </a:prstGeom>
        </p:spPr>
        <p:txBody>
          <a:bodyPr wrap="square" lIns="0" tIns="0" rIns="0" bIns="0" rtlCol="0" anchor="t">
            <a:spAutoFit/>
          </a:bodyPr>
          <a:lstStyle/>
          <a:p>
            <a:pPr>
              <a:lnSpc>
                <a:spcPts val="3079"/>
              </a:lnSpc>
              <a:spcBef>
                <a:spcPct val="0"/>
              </a:spcBef>
            </a:pPr>
            <a:r>
              <a:rPr lang="en-IN" sz="2400" b="0" i="0" dirty="0" err="1">
                <a:solidFill>
                  <a:srgbClr val="1F1F1F"/>
                </a:solidFill>
                <a:effectLst/>
                <a:latin typeface="Google Sans"/>
              </a:rPr>
              <a:t>IntelliHack</a:t>
            </a:r>
            <a:r>
              <a:rPr lang="en-IN" sz="2400" b="0" i="0" dirty="0">
                <a:solidFill>
                  <a:srgbClr val="1F1F1F"/>
                </a:solidFill>
                <a:effectLst/>
                <a:latin typeface="Google Sans"/>
              </a:rPr>
              <a:t> SRM</a:t>
            </a:r>
            <a:endParaRPr lang="en-US" sz="2400" dirty="0">
              <a:solidFill>
                <a:srgbClr val="0D0D0D"/>
              </a:solidFill>
              <a:latin typeface="Poppins"/>
              <a:ea typeface="Poppins"/>
              <a:cs typeface="Poppins"/>
              <a:sym typeface="Poppins"/>
            </a:endParaRPr>
          </a:p>
          <a:p>
            <a:pPr algn="l">
              <a:lnSpc>
                <a:spcPts val="3079"/>
              </a:lnSpc>
              <a:spcBef>
                <a:spcPct val="0"/>
              </a:spcBef>
            </a:pPr>
            <a:endParaRPr lang="en-US" sz="2400" dirty="0">
              <a:solidFill>
                <a:srgbClr val="0D0D0D"/>
              </a:solidFill>
              <a:latin typeface="Poppins"/>
              <a:ea typeface="Poppins"/>
              <a:cs typeface="Poppins"/>
              <a:sym typeface="Poppins"/>
            </a:endParaRPr>
          </a:p>
        </p:txBody>
      </p:sp>
      <p:sp>
        <p:nvSpPr>
          <p:cNvPr id="8" name="TextBox 8"/>
          <p:cNvSpPr txBox="1"/>
          <p:nvPr/>
        </p:nvSpPr>
        <p:spPr>
          <a:xfrm>
            <a:off x="1673683" y="3194446"/>
            <a:ext cx="16226205" cy="5189854"/>
          </a:xfrm>
          <a:prstGeom prst="rect">
            <a:avLst/>
          </a:prstGeom>
        </p:spPr>
        <p:txBody>
          <a:bodyPr lIns="0" tIns="0" rIns="0" bIns="0" rtlCol="0" anchor="t">
            <a:spAutoFit/>
          </a:bodyPr>
          <a:lstStyle/>
          <a:p>
            <a:pPr algn="l">
              <a:lnSpc>
                <a:spcPts val="3220"/>
              </a:lnSpc>
            </a:pPr>
            <a:endParaRPr dirty="0"/>
          </a:p>
          <a:p>
            <a:pPr algn="l">
              <a:lnSpc>
                <a:spcPts val="3220"/>
              </a:lnSpc>
            </a:pPr>
            <a:r>
              <a:rPr lang="en-US" sz="2300" dirty="0">
                <a:solidFill>
                  <a:srgbClr val="000000"/>
                </a:solidFill>
                <a:latin typeface="Canva Sans"/>
                <a:ea typeface="Canva Sans"/>
                <a:cs typeface="Canva Sans"/>
                <a:sym typeface="Canva Sans"/>
              </a:rPr>
              <a:t>🌍 </a:t>
            </a:r>
            <a:r>
              <a:rPr lang="en-US" sz="2300" b="1" dirty="0">
                <a:solidFill>
                  <a:srgbClr val="000000"/>
                </a:solidFill>
                <a:latin typeface="Canva Sans Bold"/>
                <a:ea typeface="Canva Sans Bold"/>
                <a:cs typeface="Canva Sans Bold"/>
                <a:sym typeface="Canva Sans Bold"/>
              </a:rPr>
              <a:t>Multilingual Speech &amp; Text Support </a:t>
            </a:r>
            <a:r>
              <a:rPr lang="en-US" sz="2300" dirty="0">
                <a:solidFill>
                  <a:srgbClr val="000000"/>
                </a:solidFill>
                <a:latin typeface="Canva Sans"/>
                <a:ea typeface="Canva Sans"/>
                <a:cs typeface="Canva Sans"/>
                <a:sym typeface="Canva Sans"/>
              </a:rPr>
              <a:t>– Expanding accessibility for diverse linguistic backgrounds.</a:t>
            </a:r>
          </a:p>
          <a:p>
            <a:pPr algn="l">
              <a:lnSpc>
                <a:spcPts val="3220"/>
              </a:lnSpc>
            </a:pPr>
            <a:endParaRPr lang="en-US" sz="2300" dirty="0">
              <a:solidFill>
                <a:srgbClr val="000000"/>
              </a:solidFill>
              <a:latin typeface="Canva Sans"/>
              <a:ea typeface="Canva Sans"/>
              <a:cs typeface="Canva Sans"/>
              <a:sym typeface="Canva Sans"/>
            </a:endParaRPr>
          </a:p>
          <a:p>
            <a:pPr algn="l">
              <a:lnSpc>
                <a:spcPts val="3220"/>
              </a:lnSpc>
            </a:pPr>
            <a:r>
              <a:rPr lang="en-US" sz="2300" dirty="0">
                <a:solidFill>
                  <a:srgbClr val="000000"/>
                </a:solidFill>
                <a:latin typeface="Canva Sans"/>
                <a:ea typeface="Canva Sans"/>
                <a:cs typeface="Canva Sans"/>
                <a:sym typeface="Canva Sans"/>
              </a:rPr>
              <a:t>🎯 </a:t>
            </a:r>
            <a:r>
              <a:rPr lang="en-US" sz="2300" b="1" dirty="0">
                <a:solidFill>
                  <a:srgbClr val="000000"/>
                </a:solidFill>
                <a:latin typeface="Canva Sans Bold"/>
                <a:ea typeface="Canva Sans Bold"/>
                <a:cs typeface="Canva Sans Bold"/>
                <a:sym typeface="Canva Sans Bold"/>
              </a:rPr>
              <a:t>Enhanced Emotion &amp; Engagement Detection </a:t>
            </a:r>
            <a:r>
              <a:rPr lang="en-US" sz="2300" dirty="0">
                <a:solidFill>
                  <a:srgbClr val="000000"/>
                </a:solidFill>
                <a:latin typeface="Canva Sans"/>
                <a:ea typeface="Canva Sans"/>
                <a:cs typeface="Canva Sans"/>
                <a:sym typeface="Canva Sans"/>
              </a:rPr>
              <a:t>– Refining sentiment analysis and listener interest prediction for more accurate insights.</a:t>
            </a:r>
          </a:p>
          <a:p>
            <a:pPr algn="l">
              <a:lnSpc>
                <a:spcPts val="3220"/>
              </a:lnSpc>
            </a:pPr>
            <a:endParaRPr lang="en-US" sz="2300" dirty="0">
              <a:solidFill>
                <a:srgbClr val="000000"/>
              </a:solidFill>
              <a:latin typeface="Canva Sans"/>
              <a:ea typeface="Canva Sans"/>
              <a:cs typeface="Canva Sans"/>
              <a:sym typeface="Canva Sans"/>
            </a:endParaRPr>
          </a:p>
          <a:p>
            <a:pPr algn="l">
              <a:lnSpc>
                <a:spcPts val="3220"/>
              </a:lnSpc>
            </a:pPr>
            <a:r>
              <a:rPr lang="en-US" sz="2300" dirty="0">
                <a:solidFill>
                  <a:srgbClr val="000000"/>
                </a:solidFill>
                <a:latin typeface="Canva Sans"/>
                <a:ea typeface="Canva Sans"/>
                <a:cs typeface="Canva Sans"/>
                <a:sym typeface="Canva Sans"/>
              </a:rPr>
              <a:t>🎙️ </a:t>
            </a:r>
            <a:r>
              <a:rPr lang="en-US" sz="2300" b="1" dirty="0">
                <a:solidFill>
                  <a:srgbClr val="000000"/>
                </a:solidFill>
                <a:latin typeface="Canva Sans Bold"/>
                <a:ea typeface="Canva Sans Bold"/>
                <a:cs typeface="Canva Sans Bold"/>
                <a:sym typeface="Canva Sans Bold"/>
              </a:rPr>
              <a:t>Real-Time Fluency Feedback</a:t>
            </a:r>
            <a:r>
              <a:rPr lang="en-US" sz="2300" dirty="0">
                <a:solidFill>
                  <a:srgbClr val="000000"/>
                </a:solidFill>
                <a:latin typeface="Canva Sans"/>
                <a:ea typeface="Canva Sans"/>
                <a:cs typeface="Canva Sans"/>
                <a:sym typeface="Canva Sans"/>
              </a:rPr>
              <a:t> – Providing instant analysis of speech fluency with actionable recommendations.</a:t>
            </a:r>
          </a:p>
          <a:p>
            <a:pPr algn="l">
              <a:lnSpc>
                <a:spcPts val="3220"/>
              </a:lnSpc>
            </a:pPr>
            <a:endParaRPr lang="en-US" sz="2300" dirty="0">
              <a:solidFill>
                <a:srgbClr val="000000"/>
              </a:solidFill>
              <a:latin typeface="Canva Sans"/>
              <a:ea typeface="Canva Sans"/>
              <a:cs typeface="Canva Sans"/>
              <a:sym typeface="Canva Sans"/>
            </a:endParaRPr>
          </a:p>
          <a:p>
            <a:pPr algn="l">
              <a:lnSpc>
                <a:spcPts val="3220"/>
              </a:lnSpc>
            </a:pPr>
            <a:r>
              <a:rPr lang="en-US" sz="2300" dirty="0">
                <a:solidFill>
                  <a:srgbClr val="000000"/>
                </a:solidFill>
                <a:latin typeface="Canva Sans"/>
                <a:ea typeface="Canva Sans"/>
                <a:cs typeface="Canva Sans"/>
                <a:sym typeface="Canva Sans"/>
              </a:rPr>
              <a:t>🕵️ </a:t>
            </a:r>
            <a:r>
              <a:rPr lang="en-US" sz="2300" b="1" dirty="0">
                <a:solidFill>
                  <a:srgbClr val="000000"/>
                </a:solidFill>
                <a:latin typeface="Canva Sans Bold"/>
                <a:ea typeface="Canva Sans Bold"/>
                <a:cs typeface="Canva Sans Bold"/>
                <a:sym typeface="Canva Sans Bold"/>
              </a:rPr>
              <a:t>Context-Aware Coherence Evaluation</a:t>
            </a:r>
            <a:r>
              <a:rPr lang="en-US" sz="2300" dirty="0">
                <a:solidFill>
                  <a:srgbClr val="000000"/>
                </a:solidFill>
                <a:latin typeface="Canva Sans"/>
                <a:ea typeface="Canva Sans"/>
                <a:cs typeface="Canva Sans"/>
                <a:sym typeface="Canva Sans"/>
              </a:rPr>
              <a:t> – Improving logical flow detection with more robust reasoning models.</a:t>
            </a:r>
          </a:p>
          <a:p>
            <a:pPr algn="l">
              <a:lnSpc>
                <a:spcPts val="3220"/>
              </a:lnSpc>
            </a:pPr>
            <a:endParaRPr lang="en-US" sz="2300" dirty="0">
              <a:solidFill>
                <a:srgbClr val="000000"/>
              </a:solidFill>
              <a:latin typeface="Canva Sans"/>
              <a:ea typeface="Canva Sans"/>
              <a:cs typeface="Canva Sans"/>
              <a:sym typeface="Canva Sans"/>
            </a:endParaRPr>
          </a:p>
          <a:p>
            <a:pPr algn="l">
              <a:lnSpc>
                <a:spcPts val="3220"/>
              </a:lnSpc>
            </a:pPr>
            <a:r>
              <a:rPr lang="en-US" sz="2300" dirty="0">
                <a:solidFill>
                  <a:srgbClr val="000000"/>
                </a:solidFill>
                <a:latin typeface="Canva Sans"/>
                <a:ea typeface="Canva Sans"/>
                <a:cs typeface="Canva Sans"/>
                <a:sym typeface="Canva Sans"/>
              </a:rPr>
              <a:t>📊 </a:t>
            </a:r>
            <a:r>
              <a:rPr lang="en-US" sz="2300" b="1" dirty="0">
                <a:solidFill>
                  <a:srgbClr val="000000"/>
                </a:solidFill>
                <a:latin typeface="Canva Sans Bold"/>
                <a:ea typeface="Canva Sans Bold"/>
                <a:cs typeface="Canva Sans Bold"/>
                <a:sym typeface="Canva Sans Bold"/>
              </a:rPr>
              <a:t>Comprehensive Communication Analytics </a:t>
            </a:r>
            <a:r>
              <a:rPr lang="en-US" sz="2300" dirty="0">
                <a:solidFill>
                  <a:srgbClr val="000000"/>
                </a:solidFill>
                <a:latin typeface="Canva Sans"/>
                <a:ea typeface="Canva Sans"/>
                <a:cs typeface="Canva Sans"/>
                <a:sym typeface="Canva Sans"/>
              </a:rPr>
              <a:t>– Introducing detailed performance tracking and insights for continuous improvement.</a:t>
            </a:r>
          </a:p>
          <a:p>
            <a:pPr algn="l">
              <a:lnSpc>
                <a:spcPts val="3220"/>
              </a:lnSpc>
            </a:pPr>
            <a:endParaRPr lang="en-US" sz="2300" dirty="0">
              <a:solidFill>
                <a:srgbClr val="000000"/>
              </a:solidFill>
              <a:latin typeface="Canva Sans"/>
              <a:ea typeface="Canva Sans"/>
              <a:cs typeface="Canva Sans"/>
              <a:sym typeface="Canv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40FF">
                <a:alpha val="100000"/>
              </a:srgbClr>
            </a:gs>
            <a:gs pos="100000">
              <a:srgbClr val="5200B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5614161" y="7616646"/>
            <a:ext cx="2197589" cy="2197589"/>
          </a:xfrm>
          <a:custGeom>
            <a:avLst/>
            <a:gdLst/>
            <a:ahLst/>
            <a:cxnLst/>
            <a:rect l="l" t="t" r="r" b="b"/>
            <a:pathLst>
              <a:path w="2197589" h="2197589">
                <a:moveTo>
                  <a:pt x="0" y="0"/>
                </a:moveTo>
                <a:lnTo>
                  <a:pt x="2197589" y="0"/>
                </a:lnTo>
                <a:lnTo>
                  <a:pt x="2197589" y="2197588"/>
                </a:lnTo>
                <a:lnTo>
                  <a:pt x="0" y="21975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419600" y="3543300"/>
            <a:ext cx="11465314" cy="2823235"/>
          </a:xfrm>
          <a:prstGeom prst="rect">
            <a:avLst/>
          </a:prstGeom>
        </p:spPr>
        <p:txBody>
          <a:bodyPr lIns="0" tIns="0" rIns="0" bIns="0" rtlCol="0" anchor="t">
            <a:spAutoFit/>
          </a:bodyPr>
          <a:lstStyle/>
          <a:p>
            <a:pPr algn="l">
              <a:lnSpc>
                <a:spcPts val="21839"/>
              </a:lnSpc>
              <a:spcBef>
                <a:spcPct val="0"/>
              </a:spcBef>
            </a:pPr>
            <a:r>
              <a:rPr lang="en-US" sz="15600" b="1" dirty="0">
                <a:solidFill>
                  <a:srgbClr val="FFFFFF"/>
                </a:solidFill>
                <a:latin typeface="Poppins Semi-Bold"/>
                <a:ea typeface="Poppins Semi-Bold"/>
                <a:cs typeface="Poppins Semi-Bold"/>
                <a:sym typeface="Poppins Semi-Bold"/>
              </a:rPr>
              <a:t>Thank You</a:t>
            </a:r>
          </a:p>
        </p:txBody>
      </p:sp>
      <p:sp>
        <p:nvSpPr>
          <p:cNvPr id="4" name="AutoShape 4"/>
          <p:cNvSpPr/>
          <p:nvPr/>
        </p:nvSpPr>
        <p:spPr>
          <a:xfrm>
            <a:off x="6262858" y="1102042"/>
            <a:ext cx="9031836" cy="0"/>
          </a:xfrm>
          <a:prstGeom prst="line">
            <a:avLst/>
          </a:prstGeom>
          <a:ln w="28575" cap="flat">
            <a:solidFill>
              <a:srgbClr val="FFFFFF"/>
            </a:solidFill>
            <a:prstDash val="solid"/>
            <a:headEnd type="none" w="sm" len="sm"/>
            <a:tailEnd type="none" w="sm" len="sm"/>
          </a:ln>
        </p:spPr>
      </p:sp>
      <p:sp>
        <p:nvSpPr>
          <p:cNvPr id="5" name="Freeform 5"/>
          <p:cNvSpPr/>
          <p:nvPr/>
        </p:nvSpPr>
        <p:spPr>
          <a:xfrm>
            <a:off x="1673683" y="885209"/>
            <a:ext cx="419030" cy="433666"/>
          </a:xfrm>
          <a:custGeom>
            <a:avLst/>
            <a:gdLst/>
            <a:ahLst/>
            <a:cxnLst/>
            <a:rect l="l" t="t" r="r" b="b"/>
            <a:pathLst>
              <a:path w="419030" h="433666">
                <a:moveTo>
                  <a:pt x="0" y="0"/>
                </a:moveTo>
                <a:lnTo>
                  <a:pt x="419030" y="0"/>
                </a:lnTo>
                <a:lnTo>
                  <a:pt x="419030" y="433667"/>
                </a:lnTo>
                <a:lnTo>
                  <a:pt x="0" y="4336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2276489" y="876300"/>
            <a:ext cx="3494722" cy="774636"/>
          </a:xfrm>
          <a:prstGeom prst="rect">
            <a:avLst/>
          </a:prstGeom>
        </p:spPr>
        <p:txBody>
          <a:bodyPr lIns="0" tIns="0" rIns="0" bIns="0" rtlCol="0" anchor="t">
            <a:spAutoFit/>
          </a:bodyPr>
          <a:lstStyle/>
          <a:p>
            <a:pPr>
              <a:lnSpc>
                <a:spcPts val="3079"/>
              </a:lnSpc>
              <a:spcBef>
                <a:spcPct val="0"/>
              </a:spcBef>
            </a:pPr>
            <a:r>
              <a:rPr lang="en-IN" sz="2400" b="0" i="0" dirty="0" err="1">
                <a:solidFill>
                  <a:schemeClr val="bg1"/>
                </a:solidFill>
                <a:effectLst/>
                <a:latin typeface="Google Sans"/>
              </a:rPr>
              <a:t>IntelliHack</a:t>
            </a:r>
            <a:r>
              <a:rPr lang="en-IN" sz="2400" b="0" i="0" dirty="0">
                <a:solidFill>
                  <a:schemeClr val="bg1"/>
                </a:solidFill>
                <a:effectLst/>
                <a:latin typeface="Google Sans"/>
              </a:rPr>
              <a:t> SRM</a:t>
            </a:r>
            <a:endParaRPr lang="en-US" sz="2400" dirty="0">
              <a:solidFill>
                <a:schemeClr val="bg1"/>
              </a:solidFill>
              <a:latin typeface="Poppins"/>
              <a:ea typeface="Poppins"/>
              <a:cs typeface="Poppins"/>
              <a:sym typeface="Poppins"/>
            </a:endParaRPr>
          </a:p>
          <a:p>
            <a:pPr algn="l">
              <a:lnSpc>
                <a:spcPts val="3079"/>
              </a:lnSpc>
              <a:spcBef>
                <a:spcPct val="0"/>
              </a:spcBef>
            </a:pPr>
            <a:endParaRPr lang="en-US" sz="2199" dirty="0">
              <a:solidFill>
                <a:srgbClr val="FFFFFF"/>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583</Words>
  <Application>Microsoft Office PowerPoint</Application>
  <PresentationFormat>Custom</PresentationFormat>
  <Paragraphs>95</Paragraphs>
  <Slides>12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Poppins Semi-Bold</vt:lpstr>
      <vt:lpstr>Poppins Bold</vt:lpstr>
      <vt:lpstr>Poppins</vt:lpstr>
      <vt:lpstr>Canva Sans Bold</vt:lpstr>
      <vt:lpstr>Google Sans</vt:lpstr>
      <vt:lpstr>Canva Sans</vt:lpstr>
      <vt:lpstr>Arial</vt:lpstr>
      <vt:lpstr>DM Sans</vt:lpstr>
      <vt:lpstr>Poppins Medium</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Vocalyst</dc:title>
  <cp:lastModifiedBy>Shrey Joshi</cp:lastModifiedBy>
  <cp:revision>5</cp:revision>
  <dcterms:created xsi:type="dcterms:W3CDTF">2006-08-16T00:00:00Z</dcterms:created>
  <dcterms:modified xsi:type="dcterms:W3CDTF">2025-04-21T16:42:16Z</dcterms:modified>
  <dc:identifier>DAGj7agnD8A</dc:identifier>
</cp:coreProperties>
</file>